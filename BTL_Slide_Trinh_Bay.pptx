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A0AD-D7D3-47E4-B1FA-298E32620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5F00F-5A6F-34C5-175B-87C88A38E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E29AD-C92C-B02C-BE67-44B4AA85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56A10-6E0E-1305-C401-487CCF12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5855A-DDD2-14B5-9D0E-A6D5501B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774F-94C2-265E-DA7B-5999F16CA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71EC4-23D2-9E67-8407-3748FF2AE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B46B0-B307-2ECA-3E11-6E51B29F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D8802-1270-6087-2F2A-E9BF52AC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C4D11-EABE-6BA7-D1A1-26C7E38F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9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86D01-5669-657C-9117-44AD22BBD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FFC8A-2269-8750-FDB9-0D54CB06B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88D41-7AD8-933F-F589-18409236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BE4A5-4446-F469-DBD8-84E85733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28677-44A0-D88B-8BED-DEE96B22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9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AAC94-119B-9F96-2EAF-69D1ACC2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B1A9C-AA50-22B5-85B1-F1BE042B8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7323D-1833-3D07-4B90-7D82732D8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0F378-0ACC-DFF2-B160-6A0A0480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FF524-D66A-79CF-A4BE-B4EC8487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86B24-157D-71F8-8611-A754C8CD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7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2740A-8BA0-414B-7060-AC3A235D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2ACA7-9E40-894E-7CE1-6A1A33B4A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F564F-14A7-E7F8-3911-23503BA32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DFB19-7BA7-11E2-3C38-BA33A71B4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7130E-492E-1FAA-1FEE-F07D51C37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28CD7-46B9-5B76-9976-47EA5EC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D24BA-3B11-B63A-51BD-C933147DF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BDB76-3C16-6942-9B04-45D162B6A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1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7233A-EFED-71E0-AEF9-CFEFFEF5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F7CE42-A6F8-BFA8-69AB-8BA511BC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75671-1804-0773-E488-550D023B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4F5A5-97E9-6231-213E-8F42CB48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2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CC55E-9899-6939-87B8-41DC40AB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07D83E-F85E-313A-7439-E35A9BFD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BB952-35BF-49DD-A587-440C6D56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7579-D101-668A-8AE0-F0F7B000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5AD71-F2ED-338A-0EF1-FA723A36B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2EEC0-23CF-A542-C7AE-8ACF09061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E25AB-71E9-2754-0DD7-41B1D6C2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19781-D23B-811F-0286-1FE4423B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3D1D7-7F1A-E3E1-4D72-47105D24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9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B6AE-54EF-9DC3-EE04-E0DFF584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4D1C1-B2A3-1036-A3EC-B2AE6EB51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0731C-D54B-C607-627F-532436172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5BF1D-3753-7877-137F-2CBCC130D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EC876-C71F-076D-BB2B-90B36A22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5337C-1116-9271-B80F-67CA2E12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0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4B15-A9CF-2DDD-1934-25CAED1E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0D629-BFD0-38B6-D03D-E825FA4AC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AE224-F3EB-70FF-0F18-D12BA4F6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75AF2-60B9-D0CD-B7AB-01DE29FF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32773-4E5F-9D4B-83FB-E439C17B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8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5F08A0-218E-45BB-A957-56E147FD8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22E38-FC69-4E62-F466-2C12CAB3C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D15B-32D9-D669-9AA8-4A626421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B3F0-C3A1-66A9-B3A5-19920DF0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18BF1-B17F-B4A4-350A-AD9BBE9C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79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C86B-94BC-8353-2412-3985E49A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F79DD-1D0E-B826-548A-F91EEBC9D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1307C-6FBC-C3FC-6A1E-48F130FC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ADDE1-E232-071B-A1F2-F22D177C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AC8A4-4534-475B-6497-986DA76D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6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665B6-0B87-CE7B-AB35-EC8F514D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8854B-E4B4-ACD3-C446-7B68F424B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71EE7-ACA6-707E-95CD-55D30846C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D5C20-FB25-414A-9B97-64E5C4D5834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6C95A-48D9-BD6B-AD7B-32282FED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F595B-2EAF-E8D4-01C6-CD75AA834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6FE1B-4774-4AE2-8F50-533AF15F0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9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A889-556A-FC6D-22D9-919821F21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/>
              <a:t>AIRIQ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DCAC1-568C-5D57-D5E4-1D64B4399E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 sz="1800"/>
              <a:t>Hệ thống giám sát chất lượng không khí trong nhà ứng dụng IoT
[Họ tên sinh viên] — MSSV: [MSSV] — Lớp: [Lớp]
GVHD: [Họ tên GVHD]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56988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10D5-F31A-24B2-C1DC-C0388DE6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Đặt vấn đề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29F66-E60C-33C8-E999-F09F827EB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Chất lượng không khí trong nhà ảnh hưởng trực tiếp tới sức khỏe (hô hấp, khả năng tập trung)</a:t>
            </a:r>
          </a:p>
          <a:p>
            <a:r>
              <a:rPr lang="vi-VN" sz="2000"/>
              <a:t>Nồng độ CO2, nhiệt độ, độ ẩm không phù hợp thường không được theo dõi liên tục</a:t>
            </a:r>
          </a:p>
          <a:p>
            <a:r>
              <a:rPr lang="vi-VN" sz="2000"/>
              <a:t>Phần lớn hộ gia đình chưa có công cụ giám sát thời gian thực</a:t>
            </a:r>
          </a:p>
          <a:p>
            <a:r>
              <a:rPr lang="vi-VN" sz="2000"/>
              <a:t>=&gt; Xây dựng hệ thống IoT thu thập – cảnh báo – trực quan hóa chất lượng không khí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818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4334-1B42-D06F-FEE4-2BA361F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Mục tiêu đề tài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C824A-CD09-641A-150B-F8C28F5C2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Firmware ESP32 thu thập dữ liệu nhiệt độ, độ ẩm, CO2</a:t>
            </a:r>
          </a:p>
          <a:p>
            <a:r>
              <a:rPr lang="vi-VN" sz="2000"/>
              <a:t>Truyền dữ liệu an toàn qua MQTT có mã hóa TLS</a:t>
            </a:r>
          </a:p>
          <a:p>
            <a:r>
              <a:rPr lang="vi-VN" sz="2000"/>
              <a:t>Backend Node.js xử lý, lưu trữ, tự động cảnh báo khi vượt ngưỡng</a:t>
            </a:r>
          </a:p>
          <a:p>
            <a:r>
              <a:rPr lang="vi-VN" sz="2000"/>
              <a:t>Giao diện web trực quan, hiển thị realtime, lịch sử, thống kê cảnh báo</a:t>
            </a:r>
          </a:p>
          <a:p>
            <a:r>
              <a:rPr lang="vi-VN" sz="2000"/>
              <a:t>Bảo mật nhiều lớp xuyên suốt từ thiết bị đến người dùng cuối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2196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DE4E-E405-EFBB-62DB-50DBE114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Phạm vi đề tài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2B2BE-401F-DFD9-5D1D-B0C13B999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Mô phỏng 1 thiết bị IoT trên nền tảng Wokwi (chưa triển khai phần cứng thật)</a:t>
            </a:r>
          </a:p>
          <a:p>
            <a:r>
              <a:rPr lang="vi-VN" sz="2000"/>
              <a:t>CO2 được giả lập bằng biến trở, thay vì cảm biến khí thật</a:t>
            </a:r>
          </a:p>
          <a:p>
            <a:r>
              <a:rPr lang="vi-VN" sz="2000"/>
              <a:t>Hệ thống hỗ trợ 1 thiết bị / 1 phòng trong phạm vi hiện tại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5992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4953-F51C-FC1B-A456-9369A2EB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Công nghệ sử dụng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F6A1C-EDA8-3271-6AE6-6BF1F7D53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Thiết bị: ESP32 (Wokwi) + DHT22 + biến trở giả lập CO2</a:t>
            </a:r>
          </a:p>
          <a:p>
            <a:r>
              <a:rPr lang="en-US" sz="2000"/>
              <a:t>Giao tiếp: MQTT over TLS — Broker: HiveMQ Cloud</a:t>
            </a:r>
          </a:p>
          <a:p>
            <a:r>
              <a:rPr lang="en-US" sz="2000"/>
              <a:t>Backend: Node.js, Express, MongoDB (Mongoose), JWT, bcrypt</a:t>
            </a:r>
          </a:p>
          <a:p>
            <a:r>
              <a:rPr lang="en-US" sz="2000"/>
              <a:t>Frontend: Vue.js 3, Vite, Chart.js, Axios</a:t>
            </a:r>
          </a:p>
          <a:p>
            <a:r>
              <a:rPr lang="en-US" sz="2000"/>
              <a:t>Bảo mật: TLS, JWT access/refresh token, rate limiting, no-store cache</a:t>
            </a:r>
          </a:p>
        </p:txBody>
      </p:sp>
    </p:spTree>
    <p:extLst>
      <p:ext uri="{BB962C8B-B14F-4D97-AF65-F5344CB8AC3E}">
        <p14:creationId xmlns:p14="http://schemas.microsoft.com/office/powerpoint/2010/main" val="242943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8CD6-1267-A2C8-DCB1-757F0D98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Kiến trúc tổng thể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D4DB1B-A077-D19E-B6E7-D5D61E1611D5}"/>
              </a:ext>
            </a:extLst>
          </p:cNvPr>
          <p:cNvSpPr/>
          <p:nvPr/>
        </p:nvSpPr>
        <p:spPr>
          <a:xfrm>
            <a:off x="158750" y="3111500"/>
            <a:ext cx="1968500" cy="1143000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ESP32
(DHT22 + biến trở)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DB00A08-32ED-889F-3B9D-8D1DA6D3B3B2}"/>
              </a:ext>
            </a:extLst>
          </p:cNvPr>
          <p:cNvSpPr/>
          <p:nvPr/>
        </p:nvSpPr>
        <p:spPr>
          <a:xfrm>
            <a:off x="2127250" y="3530600"/>
            <a:ext cx="508000" cy="3048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AC386-BC47-552A-92AA-1BF2E31FB63F}"/>
              </a:ext>
            </a:extLst>
          </p:cNvPr>
          <p:cNvSpPr/>
          <p:nvPr/>
        </p:nvSpPr>
        <p:spPr>
          <a:xfrm>
            <a:off x="2635250" y="3111500"/>
            <a:ext cx="1968500" cy="1143000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HiveMQ Cloud
(MQTT/TLS)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38EA63E-EF9E-57F8-4106-DF56669F29E4}"/>
              </a:ext>
            </a:extLst>
          </p:cNvPr>
          <p:cNvSpPr/>
          <p:nvPr/>
        </p:nvSpPr>
        <p:spPr>
          <a:xfrm>
            <a:off x="4603750" y="3530600"/>
            <a:ext cx="508000" cy="3048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742023-D7AF-EE4C-1963-5EDE4EA6F368}"/>
              </a:ext>
            </a:extLst>
          </p:cNvPr>
          <p:cNvSpPr/>
          <p:nvPr/>
        </p:nvSpPr>
        <p:spPr>
          <a:xfrm>
            <a:off x="5111750" y="3111500"/>
            <a:ext cx="1968500" cy="1143000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Backend
(Node.js)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CDF27C-EB74-F268-21EE-3EEB7476CB1E}"/>
              </a:ext>
            </a:extLst>
          </p:cNvPr>
          <p:cNvSpPr/>
          <p:nvPr/>
        </p:nvSpPr>
        <p:spPr>
          <a:xfrm>
            <a:off x="7080250" y="3530600"/>
            <a:ext cx="508000" cy="3048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C419B-7DC6-AC8A-938C-E0C9EF2C1149}"/>
              </a:ext>
            </a:extLst>
          </p:cNvPr>
          <p:cNvSpPr/>
          <p:nvPr/>
        </p:nvSpPr>
        <p:spPr>
          <a:xfrm>
            <a:off x="7588250" y="3111500"/>
            <a:ext cx="1968500" cy="1143000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MongoDB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45D0FCA-8D38-1200-32BD-133F360F37F4}"/>
              </a:ext>
            </a:extLst>
          </p:cNvPr>
          <p:cNvSpPr/>
          <p:nvPr/>
        </p:nvSpPr>
        <p:spPr>
          <a:xfrm>
            <a:off x="9556750" y="3530600"/>
            <a:ext cx="508000" cy="3048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99D070-93EA-DF21-B710-BD55414BC01A}"/>
              </a:ext>
            </a:extLst>
          </p:cNvPr>
          <p:cNvSpPr/>
          <p:nvPr/>
        </p:nvSpPr>
        <p:spPr>
          <a:xfrm>
            <a:off x="10064750" y="3111500"/>
            <a:ext cx="1968500" cy="1143000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Dashboard
(Vue.js)</a:t>
            </a:r>
          </a:p>
        </p:txBody>
      </p:sp>
    </p:spTree>
    <p:extLst>
      <p:ext uri="{BB962C8B-B14F-4D97-AF65-F5344CB8AC3E}">
        <p14:creationId xmlns:p14="http://schemas.microsoft.com/office/powerpoint/2010/main" val="1807302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FCE7-F6C9-5BA5-E2DA-460DBB54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b="1"/>
              <a:t>Sơ đồ luồng dữ liệu</a:t>
            </a:r>
            <a:endParaRPr lang="en-US" sz="30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83018-1F94-6819-17D4-ED8DF1351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ESP32 đọc DHT22 mỗi 5s (retry tối đa 3 lần) + đọc biến trở giả lập CO2</a:t>
            </a:r>
          </a:p>
          <a:p>
            <a:r>
              <a:rPr lang="vi-VN" sz="2000"/>
              <a:t>Đóng gói JSON kèm mã xác thực thiết bị (api_key), publish qua MQTT/TLS</a:t>
            </a:r>
          </a:p>
          <a:p>
            <a:r>
              <a:rPr lang="vi-VN" sz="2000"/>
              <a:t>Backend subscribe, xác thực api_key, lưu MongoDB</a:t>
            </a:r>
          </a:p>
          <a:p>
            <a:r>
              <a:rPr lang="vi-VN" sz="2000"/>
              <a:t>So ngưỡng cấu hình → sinh cảnh báo (có cooldown 5 phút chống trùng lặp)</a:t>
            </a:r>
          </a:p>
          <a:p>
            <a:r>
              <a:rPr lang="vi-VN" sz="2000"/>
              <a:t>Dashboard poll 5s + tự làm mới khi tab được focus lại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444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85CC-B96F-2B1D-570D-D30CE676C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Firmware ESP32 &amp; Wokwi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2384F-E258-5FF7-336E-71849595E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089" y="1270000"/>
            <a:ext cx="8257822" cy="482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0B9628-9247-2F6B-0D89-B0FC3D7E2C93}"/>
              </a:ext>
            </a:extLst>
          </p:cNvPr>
          <p:cNvSpPr txBox="1"/>
          <p:nvPr/>
        </p:nvSpPr>
        <p:spPr>
          <a:xfrm>
            <a:off x="508000" y="6223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vi-VN" sz="1400" i="1"/>
              <a:t>Sơ đồ mạch mô phỏng: ESP32 + DHT22 + biến trở giả lập CO2</a:t>
            </a:r>
            <a:endParaRPr lang="en-US" sz="1400" i="1"/>
          </a:p>
        </p:txBody>
      </p:sp>
    </p:spTree>
    <p:extLst>
      <p:ext uri="{BB962C8B-B14F-4D97-AF65-F5344CB8AC3E}">
        <p14:creationId xmlns:p14="http://schemas.microsoft.com/office/powerpoint/2010/main" val="1486989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5B21-8E90-066A-3F9A-719EEF77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Firmware ESP32 &amp; Wokwi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7FF72-1235-5F77-E3EC-D6DCBE6BC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Kết nối WiFi ảo (Wokwi-GUEST), tự reconnect khi mất kết nối</a:t>
            </a:r>
          </a:p>
          <a:p>
            <a:r>
              <a:rPr lang="vi-VN" sz="2000"/>
              <a:t>Đọc DHT22 có delay ổn định 2s + retry 3 lần (khắc phục lỗi đọc trượt trên simulator)</a:t>
            </a:r>
          </a:p>
          <a:p>
            <a:r>
              <a:rPr lang="vi-VN" sz="2000"/>
              <a:t>Xác thực chứng chỉ broker bằng root CA thật, không dùng setInsecure()</a:t>
            </a:r>
          </a:p>
          <a:p>
            <a:r>
              <a:rPr lang="vi-VN" sz="2000"/>
              <a:t>Publish JSON: device_id, api_key, temperature, humidity, co2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3038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DD9D-C35E-E326-C57F-475F1F5B2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MQTT hoạt động thành công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1B0C7-21DA-898A-A50B-2378DB3CC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270000"/>
            <a:ext cx="10922000" cy="2715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C9ED9E-9C2F-EAAA-0035-36558C15D45F}"/>
              </a:ext>
            </a:extLst>
          </p:cNvPr>
          <p:cNvSpPr txBox="1"/>
          <p:nvPr/>
        </p:nvSpPr>
        <p:spPr>
          <a:xfrm>
            <a:off x="508000" y="4112847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i="1"/>
              <a:t>Log Serial Monitor xác nhận publish dữ liệu thành công lên HiveMQ Cloud</a:t>
            </a:r>
          </a:p>
        </p:txBody>
      </p:sp>
    </p:spTree>
    <p:extLst>
      <p:ext uri="{BB962C8B-B14F-4D97-AF65-F5344CB8AC3E}">
        <p14:creationId xmlns:p14="http://schemas.microsoft.com/office/powerpoint/2010/main" val="265327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AFF5-86E9-F86A-AD14-78AFBE69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Backend — Node.js / Express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D0BF0-4CB6-FF38-BD3F-94B2A2C36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MQTT subscriber: xác thực api_key, lưu SensorData, sinh Alert khi vượt ngưỡng</a:t>
            </a:r>
          </a:p>
          <a:p>
            <a:r>
              <a:rPr lang="vi-VN" sz="2000"/>
              <a:t>Cooldown 5 phút/loại/thiết bị — chống spam cảnh báo trùng lặp</a:t>
            </a:r>
          </a:p>
          <a:p>
            <a:r>
              <a:rPr lang="vi-VN" sz="2000"/>
              <a:t>REST API: auth, sensor, alerts (stats/weekly/bulk-delete), settings</a:t>
            </a:r>
          </a:p>
          <a:p>
            <a:r>
              <a:rPr lang="vi-VN" sz="2000"/>
              <a:t>Rate limit tách riêng: auth chặt (chống brute-force), API dữ liệu rộng hơn (đủ cho polling)</a:t>
            </a:r>
          </a:p>
          <a:p>
            <a:r>
              <a:rPr lang="vi-VN" sz="2000"/>
              <a:t>Header Cache-Control: no-store trên toàn bộ API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32092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B8E7-9AFB-A47C-61C8-EFE61F4B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Frontend —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38E45-C89C-1497-15E3-14CEC401C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58" y="1270000"/>
            <a:ext cx="10447685" cy="482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CD8179-BEB5-5440-5689-23AE777F0C0E}"/>
              </a:ext>
            </a:extLst>
          </p:cNvPr>
          <p:cNvSpPr txBox="1"/>
          <p:nvPr/>
        </p:nvSpPr>
        <p:spPr>
          <a:xfrm>
            <a:off x="508000" y="6223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vi-VN" sz="1400" i="1"/>
              <a:t>Giao diện Dashboard: gauge + mini-chart theo từng đại lượng, cập nhật thời gian thực</a:t>
            </a:r>
            <a:endParaRPr lang="en-US" sz="1400" i="1"/>
          </a:p>
        </p:txBody>
      </p:sp>
    </p:spTree>
    <p:extLst>
      <p:ext uri="{BB962C8B-B14F-4D97-AF65-F5344CB8AC3E}">
        <p14:creationId xmlns:p14="http://schemas.microsoft.com/office/powerpoint/2010/main" val="2580473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2785-5121-4159-F240-679CF3D54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Frontend — 5 tab chức năng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4EA82-F4F9-79A7-CF21-ACA09DB3C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Dashboard: gauge tròn + sparkline, mini-chart riêng trục, biểu đồ cảnh báo theo ngày</a:t>
            </a:r>
          </a:p>
          <a:p>
            <a:r>
              <a:rPr lang="vi-VN" sz="2000"/>
              <a:t>Lịch sử: chọn khoảng thời gian, xuất CSV, cảnh báo nếu chọn sai thứ tự ngày</a:t>
            </a:r>
          </a:p>
          <a:p>
            <a:r>
              <a:rPr lang="vi-VN" sz="2000"/>
              <a:t>Cảnh báo: thống kê tổng quan, biểu đồ phân loại, xóa hàng loạt</a:t>
            </a:r>
          </a:p>
          <a:p>
            <a:r>
              <a:rPr lang="vi-VN" sz="2000"/>
              <a:t>Thiết bị: thông tin kết nối; Cài đặt: tùy chỉnh ngưỡng cảnh báo</a:t>
            </a:r>
          </a:p>
          <a:p>
            <a:r>
              <a:rPr lang="vi-VN" sz="2000"/>
              <a:t>Tự động refresh token khi hết hạn, tự đăng xuất sau 1h không thao tác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47863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2586-A687-D7F7-E878-D0FD3D79FA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BẢO MẬT HỆ THỐNG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1EA93-627A-E16D-5D8B-F2256ED7D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3 lớp độc lập, bổ trợ lẫn nhau</a:t>
            </a:r>
          </a:p>
        </p:txBody>
      </p:sp>
    </p:spTree>
    <p:extLst>
      <p:ext uri="{BB962C8B-B14F-4D97-AF65-F5344CB8AC3E}">
        <p14:creationId xmlns:p14="http://schemas.microsoft.com/office/powerpoint/2010/main" val="4293085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BA57-9F5F-2AAE-185F-7F1797E0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b="1"/>
              <a:t>Lớp 1 — Bảo mật đường truyền MQTT</a:t>
            </a:r>
            <a:endParaRPr lang="en-US" sz="30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1A0C-CD8E-72B1-DB67-0D96489DB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Kết nối MQTT qua TLS, cổng 8883 (thay vì 1883 không mã hóa)</a:t>
            </a:r>
          </a:p>
          <a:p>
            <a:r>
              <a:rPr lang="vi-VN" sz="2000"/>
              <a:t>Xác thực chứng chỉ broker bằng root CA thật (ISRG Root X1)</a:t>
            </a:r>
          </a:p>
          <a:p>
            <a:r>
              <a:rPr lang="vi-VN" sz="2000"/>
              <a:t>=&gt; Chống nghe lén &amp; giả mạo broker (Man-in-the-Middle)</a:t>
            </a:r>
          </a:p>
          <a:p>
            <a:r>
              <a:rPr lang="vi-VN" sz="2000"/>
              <a:t>Yêu cầu username/password ở tầng broker mới được publish/subscribe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50178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311D-E14C-F0E4-33B2-1F1F0E8C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Lớp 2 — Xác thực thiết bị (Device API Key)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25C26-6BE9-1ADA-E2D9-C5E08E537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Bối cảnh: HiveMQ Free chỉ cấp 1 credential MQTT dùng chung cho mọi thiết bị</a:t>
            </a:r>
          </a:p>
          <a:p>
            <a:r>
              <a:rPr lang="vi-VN" sz="2000"/>
              <a:t>=&gt; Không thể chỉ tin cậy vào lớp broker</a:t>
            </a:r>
          </a:p>
          <a:p>
            <a:r>
              <a:rPr lang="vi-VN" sz="2000"/>
              <a:t>Mỗi payload thiết bị đều kèm api_key riêng</a:t>
            </a:r>
          </a:p>
          <a:p>
            <a:r>
              <a:rPr lang="vi-VN" sz="2000"/>
              <a:t>Backend kiểm tra api_key trước khi ghi DB — sai/thiếu thì loại bỏ ngay</a:t>
            </a:r>
          </a:p>
          <a:p>
            <a:r>
              <a:rPr lang="vi-VN" sz="2000"/>
              <a:t>Lớp xác thực độc lập, bù cho hạn chế của gói MQTT Free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97109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CA62-1BD1-C43A-39C5-C1BB970D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b="1"/>
              <a:t>Lớp 3 — Bảo vệ phiên người dùng web</a:t>
            </a:r>
            <a:endParaRPr lang="en-US" sz="30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FB62F-5BDC-1B3D-EDB0-A6010B404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Mật khẩu băm bằng bcrypt (10 vòng salt), email validate 2 phía</a:t>
            </a:r>
          </a:p>
          <a:p>
            <a:r>
              <a:rPr lang="en-US" sz="2000"/>
              <a:t>Access token 15 phút + Refresh token 7 ngày (rotate mỗi lần làm mới)</a:t>
            </a:r>
          </a:p>
          <a:p>
            <a:r>
              <a:rPr lang="en-US" sz="2000"/>
              <a:t>Tự động đăng xuất sau 1 giờ không thao tác (idle timeout)</a:t>
            </a:r>
          </a:p>
          <a:p>
            <a:r>
              <a:rPr lang="en-US" sz="2000"/>
              <a:t>Rate limit riêng cho nhóm auth — chống brute-force đăng nhập</a:t>
            </a:r>
          </a:p>
          <a:p>
            <a:r>
              <a:rPr lang="en-US" sz="2000"/>
              <a:t>Middleware JWT bảo vệ toàn bộ API dữ liệu/cảnh báo/cấu hình</a:t>
            </a:r>
          </a:p>
        </p:txBody>
      </p:sp>
    </p:spTree>
    <p:extLst>
      <p:ext uri="{BB962C8B-B14F-4D97-AF65-F5344CB8AC3E}">
        <p14:creationId xmlns:p14="http://schemas.microsoft.com/office/powerpoint/2010/main" val="387381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8403-7A44-0BD3-4C99-4846A75DC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b="1"/>
              <a:t>Kết quả đạt được</a:t>
            </a:r>
            <a:endParaRPr lang="en-US" sz="30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BF1A2-ECAD-9593-52CF-EF0A7EC05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Pipeline hoàn chỉnh: ESP32 → MQTT/TLS → Backend → MongoDB → Dashboard</a:t>
            </a:r>
          </a:p>
          <a:p>
            <a:r>
              <a:rPr lang="vi-VN" sz="2000"/>
              <a:t>Cảnh báo tự động, không bị spam nhờ cơ chế cooldown</a:t>
            </a:r>
          </a:p>
          <a:p>
            <a:r>
              <a:rPr lang="vi-VN" sz="2000"/>
              <a:t>Giao diện trực quan: gauge, mini-chart, thống kê cảnh báo nhiều dạng biểu đồ</a:t>
            </a:r>
          </a:p>
          <a:p>
            <a:r>
              <a:rPr lang="vi-VN" sz="2000"/>
              <a:t>Hệ thống tài khoản hoàn chỉnh, bảo mật 3 lớp end-to-end</a:t>
            </a:r>
          </a:p>
          <a:p>
            <a:r>
              <a:rPr lang="vi-VN" sz="2000"/>
              <a:t>Đã kiểm thử end-to-end qua curl + thao tác thực tế trên giao diện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98640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25B2-B9DA-79AA-F100-B8E57EE4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b="1"/>
              <a:t>Hạn chế &amp; Hướng phát triển</a:t>
            </a:r>
            <a:endParaRPr lang="en-US" sz="30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036F5-68D4-3D8C-F2F3-F7C73A1F3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2000"/>
              <a:t>Hạn chế: CO2 giả lập, chưa xác thực email thật, còn polling (chưa WebSocket)</a:t>
            </a:r>
          </a:p>
          <a:p>
            <a:r>
              <a:rPr lang="vi-VN" sz="2000"/>
              <a:t>Hạn chế: mới hỗ trợ 1 thiết bị/1 phòng</a:t>
            </a:r>
          </a:p>
          <a:p>
            <a:r>
              <a:rPr lang="vi-VN" sz="2000"/>
              <a:t>Phát triển: tích hợp cảm biến khí thật (MQ135/SCD40)</a:t>
            </a:r>
          </a:p>
          <a:p>
            <a:r>
              <a:rPr lang="vi-VN" sz="2000"/>
              <a:t>Phát triển: nhiều phòng + sơ đồ mặt bằng, WebSocket realtime</a:t>
            </a:r>
          </a:p>
          <a:p>
            <a:r>
              <a:rPr lang="vi-VN" sz="2000"/>
              <a:t>Phát triển: xác thực email thật, thông báo qua email/SMS khi nguy hiểm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76421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39E2-12B8-44EA-632A-2DD3DFFBB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sz="3600" b="1"/>
              <a:t>CẢM ƠN THẦY/CÔ ĐÃ LẮNG NGHE</a:t>
            </a:r>
            <a:endParaRPr lang="en-US" sz="36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FAF3E-B557-463A-1EB6-6F41CA113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14925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Office PowerPoint</Application>
  <PresentationFormat>Custom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AIRIQ</vt:lpstr>
      <vt:lpstr>Đặt vấn đề</vt:lpstr>
      <vt:lpstr>Mục tiêu đề tài</vt:lpstr>
      <vt:lpstr>Phạm vi đề tài</vt:lpstr>
      <vt:lpstr>Công nghệ sử dụng</vt:lpstr>
      <vt:lpstr>Kiến trúc tổng thể</vt:lpstr>
      <vt:lpstr>Sơ đồ luồng dữ liệu</vt:lpstr>
      <vt:lpstr>Firmware ESP32 &amp; Wokwi</vt:lpstr>
      <vt:lpstr>Firmware ESP32 &amp; Wokwi</vt:lpstr>
      <vt:lpstr>MQTT hoạt động thành công</vt:lpstr>
      <vt:lpstr>Backend — Node.js / Express</vt:lpstr>
      <vt:lpstr>Frontend — Dashboard</vt:lpstr>
      <vt:lpstr>Frontend — 5 tab chức năng</vt:lpstr>
      <vt:lpstr>BẢO MẬT HỆ THỐNG</vt:lpstr>
      <vt:lpstr>Lớp 1 — Bảo mật đường truyền MQTT</vt:lpstr>
      <vt:lpstr>Lớp 2 — Xác thực thiết bị (Device API Key)</vt:lpstr>
      <vt:lpstr>Lớp 3 — Bảo vệ phiên người dùng web</vt:lpstr>
      <vt:lpstr>Kết quả đạt được</vt:lpstr>
      <vt:lpstr>Hạn chế &amp; Hướng phát triển</vt:lpstr>
      <vt:lpstr>CẢM ƠN THẦY/CÔ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Duc Nguyen</dc:creator>
  <cp:lastModifiedBy>Duc Nguyen</cp:lastModifiedBy>
  <cp:revision>1</cp:revision>
  <dcterms:created xsi:type="dcterms:W3CDTF">2026-07-04T17:42:18Z</dcterms:created>
  <dcterms:modified xsi:type="dcterms:W3CDTF">2026-07-04T17:42:18Z</dcterms:modified>
</cp:coreProperties>
</file>