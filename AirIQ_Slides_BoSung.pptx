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NỘI DUNG TRÌNH BÀY</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2</a:t>
            </a:r>
          </a:p>
        </p:txBody>
      </p:sp>
      <p:sp>
        <p:nvSpPr>
          <p:cNvPr id="7" name="Rounded Rectangle 6"/>
          <p:cNvSpPr/>
          <p:nvPr/>
        </p:nvSpPr>
        <p:spPr>
          <a:xfrm>
            <a:off x="1188720" y="14173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1</a:t>
            </a:r>
          </a:p>
        </p:txBody>
      </p:sp>
      <p:sp>
        <p:nvSpPr>
          <p:cNvPr id="8" name="TextBox 7"/>
          <p:cNvSpPr txBox="1"/>
          <p:nvPr/>
        </p:nvSpPr>
        <p:spPr>
          <a:xfrm>
            <a:off x="2011680" y="1417320"/>
            <a:ext cx="9144000" cy="566928"/>
          </a:xfrm>
          <a:prstGeom prst="rect">
            <a:avLst/>
          </a:prstGeom>
          <a:noFill/>
        </p:spPr>
        <p:txBody>
          <a:bodyPr wrap="square" anchor="ctr" lIns="36576" rIns="36576" tIns="18288" bIns="18288">
            <a:spAutoFit/>
          </a:bodyPr>
          <a:lstStyle/>
          <a:p>
            <a:pPr algn="l"/>
            <a:r>
              <a:rPr sz="1800" b="1" i="0">
                <a:solidFill>
                  <a:srgbClr val="222A33"/>
                </a:solidFill>
                <a:latin typeface="Arial"/>
              </a:rPr>
              <a:t>PHÂN TÍCH NGHIỆP VỤ</a:t>
            </a:r>
          </a:p>
        </p:txBody>
      </p:sp>
      <p:sp>
        <p:nvSpPr>
          <p:cNvPr id="9" name="Rounded Rectangle 8"/>
          <p:cNvSpPr/>
          <p:nvPr/>
        </p:nvSpPr>
        <p:spPr>
          <a:xfrm>
            <a:off x="1188720" y="21031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2</a:t>
            </a:r>
          </a:p>
        </p:txBody>
      </p:sp>
      <p:sp>
        <p:nvSpPr>
          <p:cNvPr id="10" name="TextBox 9"/>
          <p:cNvSpPr txBox="1"/>
          <p:nvPr/>
        </p:nvSpPr>
        <p:spPr>
          <a:xfrm>
            <a:off x="2011680" y="2103120"/>
            <a:ext cx="9144000" cy="566928"/>
          </a:xfrm>
          <a:prstGeom prst="rect">
            <a:avLst/>
          </a:prstGeom>
          <a:noFill/>
        </p:spPr>
        <p:txBody>
          <a:bodyPr wrap="square" anchor="ctr" lIns="36576" rIns="36576" tIns="18288" bIns="18288">
            <a:spAutoFit/>
          </a:bodyPr>
          <a:lstStyle/>
          <a:p>
            <a:pPr algn="l"/>
            <a:r>
              <a:rPr sz="1800" b="1" i="0">
                <a:solidFill>
                  <a:srgbClr val="222A33"/>
                </a:solidFill>
                <a:latin typeface="Arial"/>
              </a:rPr>
              <a:t>KIẾN TRÚC HỆ THỐNG</a:t>
            </a:r>
          </a:p>
        </p:txBody>
      </p:sp>
      <p:sp>
        <p:nvSpPr>
          <p:cNvPr id="11" name="Rounded Rectangle 10"/>
          <p:cNvSpPr/>
          <p:nvPr/>
        </p:nvSpPr>
        <p:spPr>
          <a:xfrm>
            <a:off x="1188720" y="27889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3</a:t>
            </a:r>
          </a:p>
        </p:txBody>
      </p:sp>
      <p:sp>
        <p:nvSpPr>
          <p:cNvPr id="12" name="TextBox 11"/>
          <p:cNvSpPr txBox="1"/>
          <p:nvPr/>
        </p:nvSpPr>
        <p:spPr>
          <a:xfrm>
            <a:off x="2011680" y="2788920"/>
            <a:ext cx="9144000" cy="566928"/>
          </a:xfrm>
          <a:prstGeom prst="rect">
            <a:avLst/>
          </a:prstGeom>
          <a:noFill/>
        </p:spPr>
        <p:txBody>
          <a:bodyPr wrap="square" anchor="ctr" lIns="36576" rIns="36576" tIns="18288" bIns="18288">
            <a:spAutoFit/>
          </a:bodyPr>
          <a:lstStyle/>
          <a:p>
            <a:pPr algn="l"/>
            <a:r>
              <a:rPr sz="1800" b="1" i="0">
                <a:solidFill>
                  <a:srgbClr val="C4122D"/>
                </a:solidFill>
                <a:latin typeface="Arial"/>
              </a:rPr>
              <a:t>TRIỂN KHAI &amp; XÂY DỰNG HỆ THỐNG</a:t>
            </a:r>
          </a:p>
        </p:txBody>
      </p:sp>
      <p:sp>
        <p:nvSpPr>
          <p:cNvPr id="13" name="Rounded Rectangle 12"/>
          <p:cNvSpPr/>
          <p:nvPr/>
        </p:nvSpPr>
        <p:spPr>
          <a:xfrm>
            <a:off x="1188720" y="34747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4</a:t>
            </a:r>
          </a:p>
        </p:txBody>
      </p:sp>
      <p:sp>
        <p:nvSpPr>
          <p:cNvPr id="14" name="TextBox 13"/>
          <p:cNvSpPr txBox="1"/>
          <p:nvPr/>
        </p:nvSpPr>
        <p:spPr>
          <a:xfrm>
            <a:off x="2011680" y="3474720"/>
            <a:ext cx="9144000" cy="566928"/>
          </a:xfrm>
          <a:prstGeom prst="rect">
            <a:avLst/>
          </a:prstGeom>
          <a:noFill/>
        </p:spPr>
        <p:txBody>
          <a:bodyPr wrap="square" anchor="ctr" lIns="36576" rIns="36576" tIns="18288" bIns="18288">
            <a:spAutoFit/>
          </a:bodyPr>
          <a:lstStyle/>
          <a:p>
            <a:pPr algn="l"/>
            <a:r>
              <a:rPr sz="1800" b="1" i="0">
                <a:solidFill>
                  <a:srgbClr val="222A33"/>
                </a:solidFill>
                <a:latin typeface="Arial"/>
              </a:rPr>
              <a:t>HỆ THỐNG BẢO MẬT ĐA LỚP</a:t>
            </a:r>
          </a:p>
        </p:txBody>
      </p:sp>
      <p:sp>
        <p:nvSpPr>
          <p:cNvPr id="15" name="Rounded Rectangle 14"/>
          <p:cNvSpPr/>
          <p:nvPr/>
        </p:nvSpPr>
        <p:spPr>
          <a:xfrm>
            <a:off x="1188720" y="41605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5</a:t>
            </a:r>
          </a:p>
        </p:txBody>
      </p:sp>
      <p:sp>
        <p:nvSpPr>
          <p:cNvPr id="16" name="TextBox 15"/>
          <p:cNvSpPr txBox="1"/>
          <p:nvPr/>
        </p:nvSpPr>
        <p:spPr>
          <a:xfrm>
            <a:off x="2011680" y="4160520"/>
            <a:ext cx="9144000" cy="566928"/>
          </a:xfrm>
          <a:prstGeom prst="rect">
            <a:avLst/>
          </a:prstGeom>
          <a:noFill/>
        </p:spPr>
        <p:txBody>
          <a:bodyPr wrap="square" anchor="ctr" lIns="36576" rIns="36576" tIns="18288" bIns="18288">
            <a:spAutoFit/>
          </a:bodyPr>
          <a:lstStyle/>
          <a:p>
            <a:pPr algn="l"/>
            <a:r>
              <a:rPr sz="1800" b="1" i="0">
                <a:solidFill>
                  <a:srgbClr val="222A33"/>
                </a:solidFill>
                <a:latin typeface="Arial"/>
              </a:rPr>
              <a:t>KẾT QUẢ ĐẠT ĐƯỢC</a:t>
            </a:r>
          </a:p>
        </p:txBody>
      </p:sp>
      <p:sp>
        <p:nvSpPr>
          <p:cNvPr id="17" name="Rounded Rectangle 16"/>
          <p:cNvSpPr/>
          <p:nvPr/>
        </p:nvSpPr>
        <p:spPr>
          <a:xfrm>
            <a:off x="1188720" y="48463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6</a:t>
            </a:r>
          </a:p>
        </p:txBody>
      </p:sp>
      <p:sp>
        <p:nvSpPr>
          <p:cNvPr id="18" name="TextBox 17"/>
          <p:cNvSpPr txBox="1"/>
          <p:nvPr/>
        </p:nvSpPr>
        <p:spPr>
          <a:xfrm>
            <a:off x="2011680" y="4846320"/>
            <a:ext cx="9144000" cy="566928"/>
          </a:xfrm>
          <a:prstGeom prst="rect">
            <a:avLst/>
          </a:prstGeom>
          <a:noFill/>
        </p:spPr>
        <p:txBody>
          <a:bodyPr wrap="square" anchor="ctr" lIns="36576" rIns="36576" tIns="18288" bIns="18288">
            <a:spAutoFit/>
          </a:bodyPr>
          <a:lstStyle/>
          <a:p>
            <a:pPr algn="l"/>
            <a:r>
              <a:rPr sz="1800" b="1" i="0">
                <a:solidFill>
                  <a:srgbClr val="222A33"/>
                </a:solidFill>
                <a:latin typeface="Arial"/>
              </a:rPr>
              <a:t>HẠN CHẾ &amp; HƯỚNG PHÁT TRIỂN</a:t>
            </a:r>
          </a:p>
        </p:txBody>
      </p:sp>
      <p:sp>
        <p:nvSpPr>
          <p:cNvPr id="19" name="Rounded Rectangle 18"/>
          <p:cNvSpPr/>
          <p:nvPr/>
        </p:nvSpPr>
        <p:spPr>
          <a:xfrm>
            <a:off x="1188720" y="5532120"/>
            <a:ext cx="566928" cy="566928"/>
          </a:xfrm>
          <a:prstGeom prst="roundRect">
            <a:avLst>
              <a:gd name="adj" fmla="val 16000"/>
            </a:avLst>
          </a:prstGeom>
          <a:solidFill>
            <a:srgbClr val="E9F1FB"/>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0F2A54"/>
                </a:solidFill>
                <a:latin typeface="Arial"/>
              </a:rPr>
              <a:t>7</a:t>
            </a:r>
          </a:p>
        </p:txBody>
      </p:sp>
      <p:sp>
        <p:nvSpPr>
          <p:cNvPr id="20" name="TextBox 19"/>
          <p:cNvSpPr txBox="1"/>
          <p:nvPr/>
        </p:nvSpPr>
        <p:spPr>
          <a:xfrm>
            <a:off x="2011680" y="5532120"/>
            <a:ext cx="9144000" cy="566928"/>
          </a:xfrm>
          <a:prstGeom prst="rect">
            <a:avLst/>
          </a:prstGeom>
          <a:noFill/>
        </p:spPr>
        <p:txBody>
          <a:bodyPr wrap="square" anchor="ctr" lIns="36576" rIns="36576" tIns="18288" bIns="18288">
            <a:spAutoFit/>
          </a:bodyPr>
          <a:lstStyle/>
          <a:p>
            <a:pPr algn="l"/>
            <a:r>
              <a:rPr sz="1800" b="1" i="0">
                <a:solidFill>
                  <a:srgbClr val="222A33"/>
                </a:solidFill>
                <a:latin typeface="Arial"/>
              </a:rPr>
              <a:t>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PHÂN TÍCH NGHIỆP VỤ</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3</a:t>
            </a:r>
          </a:p>
        </p:txBody>
      </p:sp>
      <p:sp>
        <p:nvSpPr>
          <p:cNvPr id="7" name="Rectangle 6"/>
          <p:cNvSpPr/>
          <p:nvPr/>
        </p:nvSpPr>
        <p:spPr>
          <a:xfrm>
            <a:off x="502920" y="1280160"/>
            <a:ext cx="109728" cy="1051560"/>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280160"/>
            <a:ext cx="11018520" cy="105156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C4122D"/>
                </a:solidFill>
                <a:latin typeface="Arial"/>
              </a:rPr>
              <a:t>BỐI CẢNH</a:t>
            </a:r>
          </a:p>
          <a:p>
            <a:pPr algn="l"/>
            <a:r>
              <a:rPr sz="1250" b="0" i="0">
                <a:solidFill>
                  <a:srgbClr val="222A33"/>
                </a:solidFill>
                <a:latin typeface="Arial"/>
              </a:rPr>
              <a:t>Chất lượng không khí trong nhà (CO₂, nhiệt độ, độ ẩm) ảnh hưởng trực tiếp tới sức khỏe, sự tập trung và giấc ngủ. Đô thị hóa khiến không gian sống ngày càng kín, trong khi người dùng thiếu công cụ giám sát trực quan và cảnh báo kịp thời khi môi trường vượt ngưỡng an toàn.</a:t>
            </a:r>
          </a:p>
        </p:txBody>
      </p:sp>
      <p:sp>
        <p:nvSpPr>
          <p:cNvPr id="9" name="TextBox 8"/>
          <p:cNvSpPr txBox="1"/>
          <p:nvPr/>
        </p:nvSpPr>
        <p:spPr>
          <a:xfrm>
            <a:off x="502920" y="2468880"/>
            <a:ext cx="5486400" cy="320040"/>
          </a:xfrm>
          <a:prstGeom prst="rect">
            <a:avLst/>
          </a:prstGeom>
          <a:noFill/>
        </p:spPr>
        <p:txBody>
          <a:bodyPr wrap="square" anchor="t" lIns="36576" rIns="36576" tIns="18288" bIns="18288">
            <a:spAutoFit/>
          </a:bodyPr>
          <a:lstStyle/>
          <a:p>
            <a:pPr algn="l"/>
            <a:r>
              <a:rPr sz="1300" b="1" i="0">
                <a:solidFill>
                  <a:srgbClr val="0F2A54"/>
                </a:solidFill>
                <a:latin typeface="Arial"/>
              </a:rPr>
              <a:t>MỤC TIÊU  </a:t>
            </a:r>
            <a:r>
              <a:rPr sz="1050" b="0" i="1">
                <a:solidFill>
                  <a:srgbClr val="5B6672"/>
                </a:solidFill>
                <a:latin typeface="Arial"/>
              </a:rPr>
              <a:t>— cũng chính là 4 bước hệ thống thực hiện</a:t>
            </a:r>
          </a:p>
        </p:txBody>
      </p:sp>
      <p:sp>
        <p:nvSpPr>
          <p:cNvPr id="10" name="Rounded Rectangle 9"/>
          <p:cNvSpPr/>
          <p:nvPr/>
        </p:nvSpPr>
        <p:spPr>
          <a:xfrm>
            <a:off x="502920" y="2834640"/>
            <a:ext cx="2587752" cy="128016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F2A54"/>
                </a:solidFill>
                <a:latin typeface="Arial"/>
              </a:rPr>
              <a:t>Thu thập dữ liệu</a:t>
            </a:r>
          </a:p>
          <a:p>
            <a:pPr algn="ctr"/>
            <a:r>
              <a:rPr sz="400" b="0" i="0">
                <a:solidFill>
                  <a:srgbClr val="5B6672"/>
                </a:solidFill>
                <a:latin typeface="Arial"/>
              </a:rPr>
              <a:t> </a:t>
            </a:r>
          </a:p>
          <a:p>
            <a:pPr algn="ctr"/>
            <a:r>
              <a:rPr sz="1000" b="0" i="0">
                <a:solidFill>
                  <a:srgbClr val="5B6672"/>
                </a:solidFill>
                <a:latin typeface="Arial"/>
              </a:rPr>
              <a:t>Cảm biến DHT22 (nhiệt độ, độ ẩm) + CO₂</a:t>
            </a:r>
          </a:p>
        </p:txBody>
      </p:sp>
      <p:sp>
        <p:nvSpPr>
          <p:cNvPr id="11" name="Oval 10"/>
          <p:cNvSpPr/>
          <p:nvPr/>
        </p:nvSpPr>
        <p:spPr>
          <a:xfrm>
            <a:off x="411480" y="2743200"/>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1</a:t>
            </a:r>
          </a:p>
        </p:txBody>
      </p:sp>
      <p:sp>
        <p:nvSpPr>
          <p:cNvPr id="12" name="Right Arrow 11"/>
          <p:cNvSpPr/>
          <p:nvPr/>
        </p:nvSpPr>
        <p:spPr>
          <a:xfrm>
            <a:off x="3072384" y="3346703"/>
            <a:ext cx="237744" cy="256032"/>
          </a:xfrm>
          <a:prstGeom prst="right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91840" y="2834640"/>
            <a:ext cx="2587752" cy="128016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F2A54"/>
                </a:solidFill>
                <a:latin typeface="Arial"/>
              </a:rPr>
              <a:t>Truyền an toàn</a:t>
            </a:r>
          </a:p>
          <a:p>
            <a:pPr algn="ctr"/>
            <a:r>
              <a:rPr sz="400" b="0" i="0">
                <a:solidFill>
                  <a:srgbClr val="5B6672"/>
                </a:solidFill>
                <a:latin typeface="Arial"/>
              </a:rPr>
              <a:t> </a:t>
            </a:r>
          </a:p>
          <a:p>
            <a:pPr algn="ctr"/>
            <a:r>
              <a:rPr sz="1000" b="0" i="0">
                <a:solidFill>
                  <a:srgbClr val="5B6672"/>
                </a:solidFill>
                <a:latin typeface="Arial"/>
              </a:rPr>
              <a:t>MQTT over TLS — mã hóa đường truyền (:8883)</a:t>
            </a:r>
          </a:p>
        </p:txBody>
      </p:sp>
      <p:sp>
        <p:nvSpPr>
          <p:cNvPr id="14" name="Oval 13"/>
          <p:cNvSpPr/>
          <p:nvPr/>
        </p:nvSpPr>
        <p:spPr>
          <a:xfrm>
            <a:off x="3200400" y="2743200"/>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2</a:t>
            </a:r>
          </a:p>
        </p:txBody>
      </p:sp>
      <p:sp>
        <p:nvSpPr>
          <p:cNvPr id="15" name="Right Arrow 14"/>
          <p:cNvSpPr/>
          <p:nvPr/>
        </p:nvSpPr>
        <p:spPr>
          <a:xfrm>
            <a:off x="5861304" y="3346703"/>
            <a:ext cx="237744" cy="256032"/>
          </a:xfrm>
          <a:prstGeom prst="right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80760" y="2834640"/>
            <a:ext cx="2587752" cy="128016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F2A54"/>
                </a:solidFill>
                <a:latin typeface="Arial"/>
              </a:rPr>
              <a:t>Cảnh báo thông minh</a:t>
            </a:r>
          </a:p>
          <a:p>
            <a:pPr algn="ctr"/>
            <a:r>
              <a:rPr sz="400" b="0" i="0">
                <a:solidFill>
                  <a:srgbClr val="5B6672"/>
                </a:solidFill>
                <a:latin typeface="Arial"/>
              </a:rPr>
              <a:t> </a:t>
            </a:r>
          </a:p>
          <a:p>
            <a:pPr algn="ctr"/>
            <a:r>
              <a:rPr sz="1000" b="0" i="0">
                <a:solidFill>
                  <a:srgbClr val="5B6672"/>
                </a:solidFill>
                <a:latin typeface="Arial"/>
              </a:rPr>
              <a:t>Tự so ngưỡng, sinh cảnh báo (có cooldown)</a:t>
            </a:r>
          </a:p>
        </p:txBody>
      </p:sp>
      <p:sp>
        <p:nvSpPr>
          <p:cNvPr id="17" name="Oval 16"/>
          <p:cNvSpPr/>
          <p:nvPr/>
        </p:nvSpPr>
        <p:spPr>
          <a:xfrm>
            <a:off x="5989320" y="2743200"/>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3</a:t>
            </a:r>
          </a:p>
        </p:txBody>
      </p:sp>
      <p:sp>
        <p:nvSpPr>
          <p:cNvPr id="18" name="Right Arrow 17"/>
          <p:cNvSpPr/>
          <p:nvPr/>
        </p:nvSpPr>
        <p:spPr>
          <a:xfrm>
            <a:off x="8650224" y="3346703"/>
            <a:ext cx="237744" cy="256032"/>
          </a:xfrm>
          <a:prstGeom prst="right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869680" y="2834640"/>
            <a:ext cx="2587752" cy="128016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F2A54"/>
                </a:solidFill>
                <a:latin typeface="Arial"/>
              </a:rPr>
              <a:t>Trực quan hóa</a:t>
            </a:r>
          </a:p>
          <a:p>
            <a:pPr algn="ctr"/>
            <a:r>
              <a:rPr sz="400" b="0" i="0">
                <a:solidFill>
                  <a:srgbClr val="5B6672"/>
                </a:solidFill>
                <a:latin typeface="Arial"/>
              </a:rPr>
              <a:t> </a:t>
            </a:r>
          </a:p>
          <a:p>
            <a:pPr algn="ctr"/>
            <a:r>
              <a:rPr sz="1000" b="0" i="0">
                <a:solidFill>
                  <a:srgbClr val="5B6672"/>
                </a:solidFill>
                <a:latin typeface="Arial"/>
              </a:rPr>
              <a:t>Dashboard web hiển thị realtime</a:t>
            </a:r>
          </a:p>
        </p:txBody>
      </p:sp>
      <p:sp>
        <p:nvSpPr>
          <p:cNvPr id="20" name="Oval 19"/>
          <p:cNvSpPr/>
          <p:nvPr/>
        </p:nvSpPr>
        <p:spPr>
          <a:xfrm>
            <a:off x="8778240" y="2743200"/>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4</a:t>
            </a:r>
          </a:p>
        </p:txBody>
      </p:sp>
      <p:sp>
        <p:nvSpPr>
          <p:cNvPr id="21" name="TextBox 20"/>
          <p:cNvSpPr txBox="1"/>
          <p:nvPr/>
        </p:nvSpPr>
        <p:spPr>
          <a:xfrm>
            <a:off x="502920" y="4315968"/>
            <a:ext cx="7315200" cy="320040"/>
          </a:xfrm>
          <a:prstGeom prst="rect">
            <a:avLst/>
          </a:prstGeom>
          <a:noFill/>
        </p:spPr>
        <p:txBody>
          <a:bodyPr wrap="square" anchor="t" lIns="36576" rIns="36576" tIns="18288" bIns="18288">
            <a:spAutoFit/>
          </a:bodyPr>
          <a:lstStyle/>
          <a:p>
            <a:pPr algn="l"/>
            <a:r>
              <a:rPr sz="1300" b="1" i="0">
                <a:solidFill>
                  <a:srgbClr val="0F2A54"/>
                </a:solidFill>
                <a:latin typeface="Arial"/>
              </a:rPr>
              <a:t>PHẠM VI ĐỀ TÀI</a:t>
            </a:r>
          </a:p>
        </p:txBody>
      </p:sp>
      <p:sp>
        <p:nvSpPr>
          <p:cNvPr id="22" name="Rounded Rectangle 21"/>
          <p:cNvSpPr/>
          <p:nvPr/>
        </p:nvSpPr>
        <p:spPr>
          <a:xfrm>
            <a:off x="502920" y="4663440"/>
            <a:ext cx="3566160" cy="1371600"/>
          </a:xfrm>
          <a:prstGeom prst="roundRect">
            <a:avLst>
              <a:gd name="adj" fmla="val 10000"/>
            </a:avLst>
          </a:prstGeom>
          <a:solidFill>
            <a:srgbClr val="FFFFFF"/>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50" b="1" i="0">
                <a:solidFill>
                  <a:srgbClr val="0F2A54"/>
                </a:solidFill>
                <a:latin typeface="Arial"/>
              </a:rPr>
              <a:t>Mô phỏng trên Wokwi</a:t>
            </a:r>
          </a:p>
          <a:p>
            <a:pPr algn="l"/>
            <a:r>
              <a:rPr sz="400" b="0" i="0">
                <a:solidFill>
                  <a:srgbClr val="5B6672"/>
                </a:solidFill>
                <a:latin typeface="Arial"/>
              </a:rPr>
              <a:t> </a:t>
            </a:r>
          </a:p>
          <a:p>
            <a:pPr algn="l"/>
            <a:r>
              <a:rPr sz="1050" b="0" i="0">
                <a:solidFill>
                  <a:srgbClr val="222A33"/>
                </a:solidFill>
                <a:latin typeface="Arial"/>
              </a:rPr>
              <a:t>1 thiết bị IoT ảo — chưa triển khai phần cứng vật lý</a:t>
            </a:r>
          </a:p>
        </p:txBody>
      </p:sp>
      <p:sp>
        <p:nvSpPr>
          <p:cNvPr id="23" name="Rectangle 22"/>
          <p:cNvSpPr/>
          <p:nvPr/>
        </p:nvSpPr>
        <p:spPr>
          <a:xfrm>
            <a:off x="502920" y="4663440"/>
            <a:ext cx="91440" cy="1371600"/>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25112" y="4663440"/>
            <a:ext cx="3566160" cy="1371600"/>
          </a:xfrm>
          <a:prstGeom prst="roundRect">
            <a:avLst>
              <a:gd name="adj" fmla="val 10000"/>
            </a:avLst>
          </a:prstGeom>
          <a:solidFill>
            <a:srgbClr val="FFFFFF"/>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50" b="1" i="0">
                <a:solidFill>
                  <a:srgbClr val="0F2A54"/>
                </a:solidFill>
                <a:latin typeface="Arial"/>
              </a:rPr>
              <a:t>CO₂ giả lập</a:t>
            </a:r>
          </a:p>
          <a:p>
            <a:pPr algn="l"/>
            <a:r>
              <a:rPr sz="400" b="0" i="0">
                <a:solidFill>
                  <a:srgbClr val="5B6672"/>
                </a:solidFill>
                <a:latin typeface="Arial"/>
              </a:rPr>
              <a:t> </a:t>
            </a:r>
          </a:p>
          <a:p>
            <a:pPr algn="l"/>
            <a:r>
              <a:rPr sz="1050" b="0" i="0">
                <a:solidFill>
                  <a:srgbClr val="222A33"/>
                </a:solidFill>
                <a:latin typeface="Arial"/>
              </a:rPr>
              <a:t>Dùng biến trở thay cho cảm biến khí thật (MQ135/SCD40)</a:t>
            </a:r>
          </a:p>
        </p:txBody>
      </p:sp>
      <p:sp>
        <p:nvSpPr>
          <p:cNvPr id="25" name="Rectangle 24"/>
          <p:cNvSpPr/>
          <p:nvPr/>
        </p:nvSpPr>
        <p:spPr>
          <a:xfrm>
            <a:off x="4325112" y="4663440"/>
            <a:ext cx="91440" cy="1371600"/>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47304" y="4663440"/>
            <a:ext cx="3566160" cy="1371600"/>
          </a:xfrm>
          <a:prstGeom prst="roundRect">
            <a:avLst>
              <a:gd name="adj" fmla="val 10000"/>
            </a:avLst>
          </a:prstGeom>
          <a:solidFill>
            <a:srgbClr val="FFFFFF"/>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50" b="1" i="0">
                <a:solidFill>
                  <a:srgbClr val="0F2A54"/>
                </a:solidFill>
                <a:latin typeface="Arial"/>
              </a:rPr>
              <a:t>Quy mô 1 phòng</a:t>
            </a:r>
          </a:p>
          <a:p>
            <a:pPr algn="l"/>
            <a:r>
              <a:rPr sz="400" b="0" i="0">
                <a:solidFill>
                  <a:srgbClr val="5B6672"/>
                </a:solidFill>
                <a:latin typeface="Arial"/>
              </a:rPr>
              <a:t> </a:t>
            </a:r>
          </a:p>
          <a:p>
            <a:pPr algn="l"/>
            <a:r>
              <a:rPr sz="1050" b="0" i="0">
                <a:solidFill>
                  <a:srgbClr val="222A33"/>
                </a:solidFill>
                <a:latin typeface="Arial"/>
              </a:rPr>
              <a:t>Hỗ trợ 1 thiết bị / 1 phòng trong phạm vi hiện tại</a:t>
            </a:r>
          </a:p>
        </p:txBody>
      </p:sp>
      <p:sp>
        <p:nvSpPr>
          <p:cNvPr id="27" name="Rectangle 26"/>
          <p:cNvSpPr/>
          <p:nvPr/>
        </p:nvSpPr>
        <p:spPr>
          <a:xfrm>
            <a:off x="8147304" y="4663440"/>
            <a:ext cx="91440" cy="1371600"/>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KIẾN TRÚC HỆ THỐNG</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5</a:t>
            </a:r>
          </a:p>
        </p:txBody>
      </p:sp>
      <p:sp>
        <p:nvSpPr>
          <p:cNvPr id="7" name="Rounded Rectangle 6"/>
          <p:cNvSpPr/>
          <p:nvPr/>
        </p:nvSpPr>
        <p:spPr>
          <a:xfrm>
            <a:off x="502920" y="1298448"/>
            <a:ext cx="11201400" cy="1188720"/>
          </a:xfrm>
          <a:prstGeom prst="roundRect">
            <a:avLst>
              <a:gd name="adj" fmla="val 6000"/>
            </a:avLst>
          </a:prstGeom>
          <a:solidFill>
            <a:srgbClr val="E4F5EA"/>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58368" y="1435607"/>
            <a:ext cx="1691640" cy="91440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
            </a:r>
            <a:r>
              <a:rPr sz="1150" b="1" i="0">
                <a:solidFill>
                  <a:srgbClr val="FFFFFF"/>
                </a:solidFill>
                <a:latin typeface="Arial"/>
              </a:rPr>
              <a:t>TẦNG</a:t>
            </a:r>
          </a:p>
          <a:p>
            <a:pPr algn="ctr"/>
            <a:r>
              <a:rPr sz="1150" b="1" i="0">
                <a:solidFill>
                  <a:srgbClr val="FFFFFF"/>
                </a:solidFill>
                <a:latin typeface="Arial"/>
              </a:rPr>
              <a:t>THIẾT BỊ</a:t>
            </a:r>
          </a:p>
          <a:p>
            <a:pPr algn="ctr"/>
            <a:r>
              <a:rPr sz="1150" b="1" i="0">
                <a:solidFill>
                  <a:srgbClr val="FFFFFF"/>
                </a:solidFill>
                <a:latin typeface="Arial"/>
              </a:rPr>
              <a:t>(Device)</a:t>
            </a:r>
          </a:p>
        </p:txBody>
      </p:sp>
      <p:sp>
        <p:nvSpPr>
          <p:cNvPr id="9" name="Rounded Rectangle 8"/>
          <p:cNvSpPr/>
          <p:nvPr/>
        </p:nvSpPr>
        <p:spPr>
          <a:xfrm>
            <a:off x="2560320" y="1499616"/>
            <a:ext cx="8961120" cy="786384"/>
          </a:xfrm>
          <a:prstGeom prst="roundRect">
            <a:avLst>
              <a:gd name="adj" fmla="val 10000"/>
            </a:avLst>
          </a:prstGeom>
          <a:solidFill>
            <a:srgbClr val="FFFFFF"/>
          </a:solidFill>
          <a:ln w="16510">
            <a:solidFill>
              <a:srgbClr val="1E9E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F2A54"/>
                </a:solidFill>
                <a:latin typeface="Arial"/>
              </a:rPr>
              <a:t>ESP32  (DHT22 + biến trở giả lập CO₂)</a:t>
            </a:r>
          </a:p>
          <a:p>
            <a:pPr algn="ctr"/>
            <a:r>
              <a:rPr sz="1050" b="0" i="0">
                <a:solidFill>
                  <a:srgbClr val="5B6672"/>
                </a:solidFill>
                <a:latin typeface="Arial"/>
              </a:rPr>
              <a:t>Đọc cảm biến mỗi 5s · đóng gói JSON {device_id, api_key, temperature, humidity, co2}</a:t>
            </a:r>
          </a:p>
        </p:txBody>
      </p:sp>
      <p:sp>
        <p:nvSpPr>
          <p:cNvPr id="10" name="Down Arrow 9"/>
          <p:cNvSpPr/>
          <p:nvPr/>
        </p:nvSpPr>
        <p:spPr>
          <a:xfrm>
            <a:off x="5852160" y="2505456"/>
            <a:ext cx="548640" cy="384048"/>
          </a:xfrm>
          <a:prstGeom prst="downArrow">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505456"/>
            <a:ext cx="4846320" cy="384048"/>
          </a:xfrm>
          <a:prstGeom prst="rect">
            <a:avLst/>
          </a:prstGeom>
          <a:noFill/>
        </p:spPr>
        <p:txBody>
          <a:bodyPr wrap="square" anchor="ctr" lIns="36576" rIns="36576" tIns="18288" bIns="18288">
            <a:spAutoFit/>
          </a:bodyPr>
          <a:lstStyle/>
          <a:p>
            <a:pPr algn="l"/>
            <a:r>
              <a:rPr sz="1050" b="1" i="0">
                <a:solidFill>
                  <a:srgbClr val="1E9E4F"/>
                </a:solidFill>
                <a:latin typeface="Arial"/>
              </a:rPr>
              <a:t>MQTT publish qua TLS · cổng 8883 (mã hóa đường truyền)</a:t>
            </a:r>
          </a:p>
        </p:txBody>
      </p:sp>
      <p:sp>
        <p:nvSpPr>
          <p:cNvPr id="12" name="Rounded Rectangle 11"/>
          <p:cNvSpPr/>
          <p:nvPr/>
        </p:nvSpPr>
        <p:spPr>
          <a:xfrm>
            <a:off x="502920" y="3017520"/>
            <a:ext cx="11201400" cy="1417320"/>
          </a:xfrm>
          <a:prstGeom prst="roundRect">
            <a:avLst>
              <a:gd name="adj" fmla="val 6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58368" y="3154679"/>
            <a:ext cx="1691640" cy="1143000"/>
          </a:xfrm>
          <a:prstGeom prst="roundRect">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
            </a:r>
            <a:r>
              <a:rPr sz="1150" b="1" i="0">
                <a:solidFill>
                  <a:srgbClr val="FFFFFF"/>
                </a:solidFill>
                <a:latin typeface="Arial"/>
              </a:rPr>
              <a:t>TẦNG DỊCH VỤ</a:t>
            </a:r>
          </a:p>
          <a:p>
            <a:pPr algn="ctr"/>
            <a:r>
              <a:rPr sz="1150" b="1" i="0">
                <a:solidFill>
                  <a:srgbClr val="FFFFFF"/>
                </a:solidFill>
                <a:latin typeface="Arial"/>
              </a:rPr>
              <a:t>Cloud /</a:t>
            </a:r>
          </a:p>
          <a:p>
            <a:pPr algn="ctr"/>
            <a:r>
              <a:rPr sz="1150" b="1" i="0">
                <a:solidFill>
                  <a:srgbClr val="FFFFFF"/>
                </a:solidFill>
                <a:latin typeface="Arial"/>
              </a:rPr>
              <a:t>Backend</a:t>
            </a:r>
          </a:p>
        </p:txBody>
      </p:sp>
      <p:sp>
        <p:nvSpPr>
          <p:cNvPr id="14" name="Rounded Rectangle 13"/>
          <p:cNvSpPr/>
          <p:nvPr/>
        </p:nvSpPr>
        <p:spPr>
          <a:xfrm>
            <a:off x="2560320" y="3200400"/>
            <a:ext cx="2743200" cy="1051560"/>
          </a:xfrm>
          <a:prstGeom prst="roundRect">
            <a:avLst>
              <a:gd name="adj" fmla="val 10000"/>
            </a:avLst>
          </a:prstGeom>
          <a:solidFill>
            <a:srgbClr val="FFFFFF"/>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0F2A54"/>
                </a:solidFill>
                <a:latin typeface="Arial"/>
              </a:rPr>
              <a:t>HiveMQ Cloud</a:t>
            </a:r>
          </a:p>
          <a:p>
            <a:pPr algn="ctr"/>
            <a:r>
              <a:rPr sz="950" b="0" i="0">
                <a:solidFill>
                  <a:srgbClr val="5B6672"/>
                </a:solidFill>
                <a:latin typeface="Arial"/>
              </a:rPr>
              <a:t>MQTT Broker (pub/sub)</a:t>
            </a:r>
          </a:p>
        </p:txBody>
      </p:sp>
      <p:sp>
        <p:nvSpPr>
          <p:cNvPr id="15" name="Rounded Rectangle 14"/>
          <p:cNvSpPr/>
          <p:nvPr/>
        </p:nvSpPr>
        <p:spPr>
          <a:xfrm>
            <a:off x="5623559" y="3200400"/>
            <a:ext cx="3063240" cy="1051560"/>
          </a:xfrm>
          <a:prstGeom prst="roundRect">
            <a:avLst>
              <a:gd name="adj" fmla="val 10000"/>
            </a:avLst>
          </a:prstGeom>
          <a:solidFill>
            <a:srgbClr val="D3E4F7"/>
          </a:solidFill>
          <a:ln w="1905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F2A54"/>
                </a:solidFill>
                <a:latin typeface="Arial"/>
              </a:rPr>
              <a:t>Backend — Node.js/Express</a:t>
            </a:r>
          </a:p>
          <a:p>
            <a:pPr algn="ctr"/>
            <a:r>
              <a:rPr sz="950" b="0" i="0">
                <a:solidFill>
                  <a:srgbClr val="5B6672"/>
                </a:solidFill>
                <a:latin typeface="Arial"/>
              </a:rPr>
              <a:t>MQTT subscriber (xác thực api_key,</a:t>
            </a:r>
          </a:p>
          <a:p>
            <a:pPr algn="ctr"/>
            <a:r>
              <a:rPr sz="950" b="0" i="0">
                <a:solidFill>
                  <a:srgbClr val="5B6672"/>
                </a:solidFill>
                <a:latin typeface="Arial"/>
              </a:rPr>
              <a:t>so ngưỡng, sinh cảnh báo) + REST API</a:t>
            </a:r>
          </a:p>
        </p:txBody>
      </p:sp>
      <p:sp>
        <p:nvSpPr>
          <p:cNvPr id="16" name="Rounded Rectangle 15"/>
          <p:cNvSpPr/>
          <p:nvPr/>
        </p:nvSpPr>
        <p:spPr>
          <a:xfrm>
            <a:off x="9006840" y="3200400"/>
            <a:ext cx="2514600" cy="1051560"/>
          </a:xfrm>
          <a:prstGeom prst="roundRect">
            <a:avLst>
              <a:gd name="adj" fmla="val 10000"/>
            </a:avLst>
          </a:prstGeom>
          <a:solidFill>
            <a:srgbClr val="FFFFFF"/>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0F2A54"/>
                </a:solidFill>
                <a:latin typeface="Arial"/>
              </a:rPr>
              <a:t>MongoDB</a:t>
            </a:r>
          </a:p>
          <a:p>
            <a:pPr algn="ctr"/>
            <a:r>
              <a:rPr sz="950" b="0" i="0">
                <a:solidFill>
                  <a:srgbClr val="5B6672"/>
                </a:solidFill>
                <a:latin typeface="Arial"/>
              </a:rPr>
              <a:t>Lưu SensorData, Alert,</a:t>
            </a:r>
          </a:p>
          <a:p>
            <a:pPr algn="ctr"/>
            <a:r>
              <a:rPr sz="950" b="0" i="0">
                <a:solidFill>
                  <a:srgbClr val="5B6672"/>
                </a:solidFill>
                <a:latin typeface="Arial"/>
              </a:rPr>
              <a:t>Settings, User</a:t>
            </a:r>
          </a:p>
        </p:txBody>
      </p:sp>
      <p:sp>
        <p:nvSpPr>
          <p:cNvPr id="17" name="Right Arrow 16"/>
          <p:cNvSpPr/>
          <p:nvPr/>
        </p:nvSpPr>
        <p:spPr>
          <a:xfrm>
            <a:off x="5321807" y="3607308"/>
            <a:ext cx="301752" cy="256032"/>
          </a:xfrm>
          <a:prstGeom prst="right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ft-Right Arrow 17"/>
          <p:cNvSpPr/>
          <p:nvPr/>
        </p:nvSpPr>
        <p:spPr>
          <a:xfrm>
            <a:off x="8705088" y="3589020"/>
            <a:ext cx="320040" cy="274320"/>
          </a:xfrm>
          <a:prstGeom prst="leftRight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5852160" y="4453127"/>
            <a:ext cx="548640" cy="384048"/>
          </a:xfrm>
          <a:prstGeom prst="down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453127"/>
            <a:ext cx="4846320" cy="384048"/>
          </a:xfrm>
          <a:prstGeom prst="rect">
            <a:avLst/>
          </a:prstGeom>
          <a:noFill/>
        </p:spPr>
        <p:txBody>
          <a:bodyPr wrap="square" anchor="ctr" lIns="36576" rIns="36576" tIns="18288" bIns="18288">
            <a:spAutoFit/>
          </a:bodyPr>
          <a:lstStyle/>
          <a:p>
            <a:pPr algn="l"/>
            <a:r>
              <a:rPr sz="1050" b="1" i="0">
                <a:solidFill>
                  <a:srgbClr val="0F2A54"/>
                </a:solidFill>
                <a:latin typeface="Arial"/>
              </a:rPr>
              <a:t>REST API + JWT · Dashboard polling mỗi 5s (2 chiều)</a:t>
            </a:r>
          </a:p>
        </p:txBody>
      </p:sp>
      <p:sp>
        <p:nvSpPr>
          <p:cNvPr id="21" name="Rounded Rectangle 20"/>
          <p:cNvSpPr/>
          <p:nvPr/>
        </p:nvSpPr>
        <p:spPr>
          <a:xfrm>
            <a:off x="502920" y="4846320"/>
            <a:ext cx="11201400" cy="1143000"/>
          </a:xfrm>
          <a:prstGeom prst="roundRect">
            <a:avLst>
              <a:gd name="adj" fmla="val 6000"/>
            </a:avLst>
          </a:prstGeom>
          <a:solidFill>
            <a:srgbClr val="D3E4F7"/>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58368" y="4983480"/>
            <a:ext cx="1691640" cy="868680"/>
          </a:xfrm>
          <a:prstGeom prst="round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
            </a:r>
            <a:r>
              <a:rPr sz="1150" b="1" i="0">
                <a:solidFill>
                  <a:srgbClr val="FFFFFF"/>
                </a:solidFill>
                <a:latin typeface="Arial"/>
              </a:rPr>
              <a:t>TẦNG</a:t>
            </a:r>
          </a:p>
          <a:p>
            <a:pPr algn="ctr"/>
            <a:r>
              <a:rPr sz="1150" b="1" i="0">
                <a:solidFill>
                  <a:srgbClr val="FFFFFF"/>
                </a:solidFill>
                <a:latin typeface="Arial"/>
              </a:rPr>
              <a:t>TRÌNH BÀY</a:t>
            </a:r>
          </a:p>
          <a:p>
            <a:pPr algn="ctr"/>
            <a:r>
              <a:rPr sz="1150" b="1" i="0">
                <a:solidFill>
                  <a:srgbClr val="FFFFFF"/>
                </a:solidFill>
                <a:latin typeface="Arial"/>
              </a:rPr>
              <a:t>(Web UI)</a:t>
            </a:r>
          </a:p>
        </p:txBody>
      </p:sp>
      <p:sp>
        <p:nvSpPr>
          <p:cNvPr id="23" name="Rounded Rectangle 22"/>
          <p:cNvSpPr/>
          <p:nvPr/>
        </p:nvSpPr>
        <p:spPr>
          <a:xfrm>
            <a:off x="2560320" y="5029200"/>
            <a:ext cx="8961120" cy="777240"/>
          </a:xfrm>
          <a:prstGeom prst="roundRect">
            <a:avLst>
              <a:gd name="adj" fmla="val 10000"/>
            </a:avLst>
          </a:prstGeom>
          <a:solidFill>
            <a:srgbClr val="FFFFFF"/>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F2A54"/>
                </a:solidFill>
                <a:latin typeface="Arial"/>
              </a:rPr>
              <a:t>Dashboard Vue 3</a:t>
            </a:r>
          </a:p>
          <a:p>
            <a:pPr algn="ctr"/>
            <a:r>
              <a:rPr sz="1050" b="0" i="0">
                <a:solidFill>
                  <a:srgbClr val="5B6672"/>
                </a:solidFill>
                <a:latin typeface="Arial"/>
              </a:rPr>
              <a:t>Gauge, biểu đồ realtime, quản lý cảnh báo, cài đặt ngưỡng — chỉ xem sau khi đăng nhập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CÔNG NGHỆ SỬ DỤNG</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6</a:t>
            </a:r>
          </a:p>
        </p:txBody>
      </p:sp>
      <p:sp>
        <p:nvSpPr>
          <p:cNvPr id="7" name="Rectangle 6"/>
          <p:cNvSpPr/>
          <p:nvPr/>
        </p:nvSpPr>
        <p:spPr>
          <a:xfrm>
            <a:off x="502920" y="1508760"/>
            <a:ext cx="11201400" cy="548640"/>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1520" y="1508760"/>
            <a:ext cx="2103120" cy="548640"/>
          </a:xfrm>
          <a:prstGeom prst="rect">
            <a:avLst/>
          </a:prstGeom>
          <a:noFill/>
        </p:spPr>
        <p:txBody>
          <a:bodyPr wrap="square" anchor="ctr" lIns="36576" rIns="36576" tIns="18288" bIns="18288">
            <a:spAutoFit/>
          </a:bodyPr>
          <a:lstStyle/>
          <a:p>
            <a:pPr algn="l"/>
            <a:r>
              <a:rPr sz="1200" b="1" i="0">
                <a:solidFill>
                  <a:srgbClr val="FFFFFF"/>
                </a:solidFill>
                <a:latin typeface="Arial"/>
              </a:rPr>
              <a:t>THÀNH PHẦN</a:t>
            </a:r>
          </a:p>
        </p:txBody>
      </p:sp>
      <p:sp>
        <p:nvSpPr>
          <p:cNvPr id="9" name="TextBox 8"/>
          <p:cNvSpPr txBox="1"/>
          <p:nvPr/>
        </p:nvSpPr>
        <p:spPr>
          <a:xfrm>
            <a:off x="3063240" y="1508760"/>
            <a:ext cx="4023360" cy="548640"/>
          </a:xfrm>
          <a:prstGeom prst="rect">
            <a:avLst/>
          </a:prstGeom>
          <a:noFill/>
        </p:spPr>
        <p:txBody>
          <a:bodyPr wrap="square" anchor="ctr" lIns="36576" rIns="36576" tIns="18288" bIns="18288">
            <a:spAutoFit/>
          </a:bodyPr>
          <a:lstStyle/>
          <a:p>
            <a:pPr algn="l"/>
            <a:r>
              <a:rPr sz="1200" b="1" i="0">
                <a:solidFill>
                  <a:srgbClr val="FFFFFF"/>
                </a:solidFill>
                <a:latin typeface="Arial"/>
              </a:rPr>
              <a:t>CÔNG NGHỆ / LINH KIỆN</a:t>
            </a:r>
          </a:p>
        </p:txBody>
      </p:sp>
      <p:sp>
        <p:nvSpPr>
          <p:cNvPr id="10" name="TextBox 9"/>
          <p:cNvSpPr txBox="1"/>
          <p:nvPr/>
        </p:nvSpPr>
        <p:spPr>
          <a:xfrm>
            <a:off x="7360920" y="1508760"/>
            <a:ext cx="4251960" cy="548640"/>
          </a:xfrm>
          <a:prstGeom prst="rect">
            <a:avLst/>
          </a:prstGeom>
          <a:noFill/>
        </p:spPr>
        <p:txBody>
          <a:bodyPr wrap="square" anchor="ctr" lIns="36576" rIns="36576" tIns="18288" bIns="18288">
            <a:spAutoFit/>
          </a:bodyPr>
          <a:lstStyle/>
          <a:p>
            <a:pPr algn="l"/>
            <a:r>
              <a:rPr sz="1200" b="1" i="0">
                <a:solidFill>
                  <a:srgbClr val="FFFFFF"/>
                </a:solidFill>
                <a:latin typeface="Arial"/>
              </a:rPr>
              <a:t>VAI TRÒ CHÍNH</a:t>
            </a:r>
          </a:p>
        </p:txBody>
      </p:sp>
      <p:sp>
        <p:nvSpPr>
          <p:cNvPr id="11" name="Rectangle 10"/>
          <p:cNvSpPr/>
          <p:nvPr/>
        </p:nvSpPr>
        <p:spPr>
          <a:xfrm>
            <a:off x="502920" y="2057400"/>
            <a:ext cx="11201400" cy="93268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02920" y="2057400"/>
            <a:ext cx="91440" cy="932688"/>
          </a:xfrm>
          <a:prstGeom prst="rect">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057400"/>
            <a:ext cx="2103120" cy="932688"/>
          </a:xfrm>
          <a:prstGeom prst="rect">
            <a:avLst/>
          </a:prstGeom>
          <a:noFill/>
        </p:spPr>
        <p:txBody>
          <a:bodyPr wrap="square" anchor="ctr" lIns="36576" rIns="36576" tIns="18288" bIns="18288">
            <a:spAutoFit/>
          </a:bodyPr>
          <a:lstStyle/>
          <a:p>
            <a:pPr algn="l"/>
            <a:r>
              <a:rPr sz="1300" b="1" i="0">
                <a:solidFill>
                  <a:srgbClr val="0F2A54"/>
                </a:solidFill>
                <a:latin typeface="Arial"/>
              </a:rPr>
              <a:t>Thiết bị</a:t>
            </a:r>
          </a:p>
        </p:txBody>
      </p:sp>
      <p:sp>
        <p:nvSpPr>
          <p:cNvPr id="14" name="TextBox 13"/>
          <p:cNvSpPr txBox="1"/>
          <p:nvPr/>
        </p:nvSpPr>
        <p:spPr>
          <a:xfrm>
            <a:off x="3063240" y="2057400"/>
            <a:ext cx="4023360" cy="932688"/>
          </a:xfrm>
          <a:prstGeom prst="rect">
            <a:avLst/>
          </a:prstGeom>
          <a:noFill/>
        </p:spPr>
        <p:txBody>
          <a:bodyPr wrap="square" anchor="ctr" lIns="36576" rIns="36576" tIns="18288" bIns="18288">
            <a:spAutoFit/>
          </a:bodyPr>
          <a:lstStyle/>
          <a:p>
            <a:pPr algn="l"/>
            <a:r>
              <a:rPr sz="1200" b="1" i="0">
                <a:solidFill>
                  <a:srgbClr val="222A33"/>
                </a:solidFill>
                <a:latin typeface="Arial"/>
              </a:rPr>
              <a:t>ESP32 · DHT22 · Biến trở</a:t>
            </a:r>
          </a:p>
        </p:txBody>
      </p:sp>
      <p:sp>
        <p:nvSpPr>
          <p:cNvPr id="15" name="TextBox 14"/>
          <p:cNvSpPr txBox="1"/>
          <p:nvPr/>
        </p:nvSpPr>
        <p:spPr>
          <a:xfrm>
            <a:off x="7360920" y="2057400"/>
            <a:ext cx="4251960" cy="932688"/>
          </a:xfrm>
          <a:prstGeom prst="rect">
            <a:avLst/>
          </a:prstGeom>
          <a:noFill/>
        </p:spPr>
        <p:txBody>
          <a:bodyPr wrap="square" anchor="ctr" lIns="36576" rIns="36576" tIns="18288" bIns="18288">
            <a:spAutoFit/>
          </a:bodyPr>
          <a:lstStyle/>
          <a:p>
            <a:pPr algn="l"/>
            <a:r>
              <a:rPr sz="1150" b="0" i="0">
                <a:solidFill>
                  <a:srgbClr val="5B6672"/>
                </a:solidFill>
                <a:latin typeface="Arial"/>
              </a:rPr>
              <a:t>Thu thập dữ liệu (mô phỏng trên Wokwi)</a:t>
            </a:r>
          </a:p>
        </p:txBody>
      </p:sp>
      <p:sp>
        <p:nvSpPr>
          <p:cNvPr id="16" name="Rectangle 15"/>
          <p:cNvSpPr/>
          <p:nvPr/>
        </p:nvSpPr>
        <p:spPr>
          <a:xfrm>
            <a:off x="502920" y="2990088"/>
            <a:ext cx="11201400" cy="932688"/>
          </a:xfrm>
          <a:prstGeom prst="rect">
            <a:avLst/>
          </a:prstGeom>
          <a:solidFill>
            <a:srgbClr val="F1F3F5"/>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02920" y="2990088"/>
            <a:ext cx="91440" cy="932688"/>
          </a:xfrm>
          <a:prstGeom prst="rect">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990088"/>
            <a:ext cx="2103120" cy="932688"/>
          </a:xfrm>
          <a:prstGeom prst="rect">
            <a:avLst/>
          </a:prstGeom>
          <a:noFill/>
        </p:spPr>
        <p:txBody>
          <a:bodyPr wrap="square" anchor="ctr" lIns="36576" rIns="36576" tIns="18288" bIns="18288">
            <a:spAutoFit/>
          </a:bodyPr>
          <a:lstStyle/>
          <a:p>
            <a:pPr algn="l"/>
            <a:r>
              <a:rPr sz="1300" b="1" i="0">
                <a:solidFill>
                  <a:srgbClr val="0F2A54"/>
                </a:solidFill>
                <a:latin typeface="Arial"/>
              </a:rPr>
              <a:t>Truyền tải</a:t>
            </a:r>
          </a:p>
        </p:txBody>
      </p:sp>
      <p:sp>
        <p:nvSpPr>
          <p:cNvPr id="19" name="TextBox 18"/>
          <p:cNvSpPr txBox="1"/>
          <p:nvPr/>
        </p:nvSpPr>
        <p:spPr>
          <a:xfrm>
            <a:off x="3063240" y="2990088"/>
            <a:ext cx="4023360" cy="932688"/>
          </a:xfrm>
          <a:prstGeom prst="rect">
            <a:avLst/>
          </a:prstGeom>
          <a:noFill/>
        </p:spPr>
        <p:txBody>
          <a:bodyPr wrap="square" anchor="ctr" lIns="36576" rIns="36576" tIns="18288" bIns="18288">
            <a:spAutoFit/>
          </a:bodyPr>
          <a:lstStyle/>
          <a:p>
            <a:pPr algn="l"/>
            <a:r>
              <a:rPr sz="1200" b="1" i="0">
                <a:solidFill>
                  <a:srgbClr val="222A33"/>
                </a:solidFill>
                <a:latin typeface="Arial"/>
              </a:rPr>
              <a:t>MQTT — HiveMQ Cloud</a:t>
            </a:r>
          </a:p>
        </p:txBody>
      </p:sp>
      <p:sp>
        <p:nvSpPr>
          <p:cNvPr id="20" name="TextBox 19"/>
          <p:cNvSpPr txBox="1"/>
          <p:nvPr/>
        </p:nvSpPr>
        <p:spPr>
          <a:xfrm>
            <a:off x="7360920" y="2990088"/>
            <a:ext cx="4251960" cy="932688"/>
          </a:xfrm>
          <a:prstGeom prst="rect">
            <a:avLst/>
          </a:prstGeom>
          <a:noFill/>
        </p:spPr>
        <p:txBody>
          <a:bodyPr wrap="square" anchor="ctr" lIns="36576" rIns="36576" tIns="18288" bIns="18288">
            <a:spAutoFit/>
          </a:bodyPr>
          <a:lstStyle/>
          <a:p>
            <a:pPr algn="l"/>
            <a:r>
              <a:rPr sz="1150" b="0" i="0">
                <a:solidFill>
                  <a:srgbClr val="5B6672"/>
                </a:solidFill>
                <a:latin typeface="Arial"/>
              </a:rPr>
              <a:t>Giao thức Publish/Subscribe qua TLS (cổng 8883)</a:t>
            </a:r>
          </a:p>
        </p:txBody>
      </p:sp>
      <p:sp>
        <p:nvSpPr>
          <p:cNvPr id="21" name="Rectangle 20"/>
          <p:cNvSpPr/>
          <p:nvPr/>
        </p:nvSpPr>
        <p:spPr>
          <a:xfrm>
            <a:off x="502920" y="3922776"/>
            <a:ext cx="11201400" cy="93268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02920" y="3922776"/>
            <a:ext cx="91440" cy="93268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3922776"/>
            <a:ext cx="2103120" cy="932688"/>
          </a:xfrm>
          <a:prstGeom prst="rect">
            <a:avLst/>
          </a:prstGeom>
          <a:noFill/>
        </p:spPr>
        <p:txBody>
          <a:bodyPr wrap="square" anchor="ctr" lIns="36576" rIns="36576" tIns="18288" bIns="18288">
            <a:spAutoFit/>
          </a:bodyPr>
          <a:lstStyle/>
          <a:p>
            <a:pPr algn="l"/>
            <a:r>
              <a:rPr sz="1300" b="1" i="0">
                <a:solidFill>
                  <a:srgbClr val="0F2A54"/>
                </a:solidFill>
                <a:latin typeface="Arial"/>
              </a:rPr>
              <a:t>Backend</a:t>
            </a:r>
          </a:p>
        </p:txBody>
      </p:sp>
      <p:sp>
        <p:nvSpPr>
          <p:cNvPr id="24" name="TextBox 23"/>
          <p:cNvSpPr txBox="1"/>
          <p:nvPr/>
        </p:nvSpPr>
        <p:spPr>
          <a:xfrm>
            <a:off x="3063240" y="3922776"/>
            <a:ext cx="4023360" cy="932688"/>
          </a:xfrm>
          <a:prstGeom prst="rect">
            <a:avLst/>
          </a:prstGeom>
          <a:noFill/>
        </p:spPr>
        <p:txBody>
          <a:bodyPr wrap="square" anchor="ctr" lIns="36576" rIns="36576" tIns="18288" bIns="18288">
            <a:spAutoFit/>
          </a:bodyPr>
          <a:lstStyle/>
          <a:p>
            <a:pPr algn="l"/>
            <a:r>
              <a:rPr sz="1200" b="1" i="0">
                <a:solidFill>
                  <a:srgbClr val="222A33"/>
                </a:solidFill>
                <a:latin typeface="Arial"/>
              </a:rPr>
              <a:t>Node.js · Express · MongoDB</a:t>
            </a:r>
          </a:p>
        </p:txBody>
      </p:sp>
      <p:sp>
        <p:nvSpPr>
          <p:cNvPr id="25" name="TextBox 24"/>
          <p:cNvSpPr txBox="1"/>
          <p:nvPr/>
        </p:nvSpPr>
        <p:spPr>
          <a:xfrm>
            <a:off x="7360920" y="3922776"/>
            <a:ext cx="4251960" cy="932688"/>
          </a:xfrm>
          <a:prstGeom prst="rect">
            <a:avLst/>
          </a:prstGeom>
          <a:noFill/>
        </p:spPr>
        <p:txBody>
          <a:bodyPr wrap="square" anchor="ctr" lIns="36576" rIns="36576" tIns="18288" bIns="18288">
            <a:spAutoFit/>
          </a:bodyPr>
          <a:lstStyle/>
          <a:p>
            <a:pPr algn="l"/>
            <a:r>
              <a:rPr sz="1150" b="0" i="0">
                <a:solidFill>
                  <a:srgbClr val="5B6672"/>
                </a:solidFill>
                <a:latin typeface="Arial"/>
              </a:rPr>
              <a:t>Xác thực, lưu trữ, so ngưỡng, sinh cảnh báo, REST API</a:t>
            </a:r>
          </a:p>
        </p:txBody>
      </p:sp>
      <p:sp>
        <p:nvSpPr>
          <p:cNvPr id="26" name="Rectangle 25"/>
          <p:cNvSpPr/>
          <p:nvPr/>
        </p:nvSpPr>
        <p:spPr>
          <a:xfrm>
            <a:off x="502920" y="4855464"/>
            <a:ext cx="11201400" cy="932688"/>
          </a:xfrm>
          <a:prstGeom prst="rect">
            <a:avLst/>
          </a:prstGeom>
          <a:solidFill>
            <a:srgbClr val="F1F3F5"/>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02920" y="4855464"/>
            <a:ext cx="91440" cy="9326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4855464"/>
            <a:ext cx="2103120" cy="932688"/>
          </a:xfrm>
          <a:prstGeom prst="rect">
            <a:avLst/>
          </a:prstGeom>
          <a:noFill/>
        </p:spPr>
        <p:txBody>
          <a:bodyPr wrap="square" anchor="ctr" lIns="36576" rIns="36576" tIns="18288" bIns="18288">
            <a:spAutoFit/>
          </a:bodyPr>
          <a:lstStyle/>
          <a:p>
            <a:pPr algn="l"/>
            <a:r>
              <a:rPr sz="1300" b="1" i="0">
                <a:solidFill>
                  <a:srgbClr val="0F2A54"/>
                </a:solidFill>
                <a:latin typeface="Arial"/>
              </a:rPr>
              <a:t>Frontend</a:t>
            </a:r>
          </a:p>
        </p:txBody>
      </p:sp>
      <p:sp>
        <p:nvSpPr>
          <p:cNvPr id="29" name="TextBox 28"/>
          <p:cNvSpPr txBox="1"/>
          <p:nvPr/>
        </p:nvSpPr>
        <p:spPr>
          <a:xfrm>
            <a:off x="3063240" y="4855464"/>
            <a:ext cx="4023360" cy="932688"/>
          </a:xfrm>
          <a:prstGeom prst="rect">
            <a:avLst/>
          </a:prstGeom>
          <a:noFill/>
        </p:spPr>
        <p:txBody>
          <a:bodyPr wrap="square" anchor="ctr" lIns="36576" rIns="36576" tIns="18288" bIns="18288">
            <a:spAutoFit/>
          </a:bodyPr>
          <a:lstStyle/>
          <a:p>
            <a:pPr algn="l"/>
            <a:r>
              <a:rPr sz="1200" b="1" i="0">
                <a:solidFill>
                  <a:srgbClr val="222A33"/>
                </a:solidFill>
                <a:latin typeface="Arial"/>
              </a:rPr>
              <a:t>Vue 3 · Vite · Chart.js</a:t>
            </a:r>
          </a:p>
        </p:txBody>
      </p:sp>
      <p:sp>
        <p:nvSpPr>
          <p:cNvPr id="30" name="TextBox 29"/>
          <p:cNvSpPr txBox="1"/>
          <p:nvPr/>
        </p:nvSpPr>
        <p:spPr>
          <a:xfrm>
            <a:off x="7360920" y="4855464"/>
            <a:ext cx="4251960" cy="932688"/>
          </a:xfrm>
          <a:prstGeom prst="rect">
            <a:avLst/>
          </a:prstGeom>
          <a:noFill/>
        </p:spPr>
        <p:txBody>
          <a:bodyPr wrap="square" anchor="ctr" lIns="36576" rIns="36576" tIns="18288" bIns="18288">
            <a:spAutoFit/>
          </a:bodyPr>
          <a:lstStyle/>
          <a:p>
            <a:pPr algn="l"/>
            <a:r>
              <a:rPr sz="1150" b="0" i="0">
                <a:solidFill>
                  <a:srgbClr val="5B6672"/>
                </a:solidFill>
                <a:latin typeface="Arial"/>
              </a:rPr>
              <a:t>Dashboard realtime, biểu đồ, quản lý cảnh báo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TRIỂN KHAI &amp; XÂY DỰNG HỆ THỐNG</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8</a:t>
            </a:r>
          </a:p>
        </p:txBody>
      </p:sp>
      <p:sp>
        <p:nvSpPr>
          <p:cNvPr id="7" name="TextBox 6"/>
          <p:cNvSpPr txBox="1"/>
          <p:nvPr/>
        </p:nvSpPr>
        <p:spPr>
          <a:xfrm>
            <a:off x="502920" y="1234440"/>
            <a:ext cx="11201400" cy="411480"/>
          </a:xfrm>
          <a:prstGeom prst="rect">
            <a:avLst/>
          </a:prstGeom>
          <a:noFill/>
        </p:spPr>
        <p:txBody>
          <a:bodyPr wrap="square" anchor="t" lIns="36576" rIns="36576" tIns="18288" bIns="18288">
            <a:spAutoFit/>
          </a:bodyPr>
          <a:lstStyle/>
          <a:p>
            <a:pPr algn="l"/>
            <a:r>
              <a:rPr sz="1250" b="0" i="1">
                <a:solidFill>
                  <a:srgbClr val="5B6672"/>
                </a:solidFill>
                <a:latin typeface="Arial"/>
              </a:rPr>
              <a:t>Ba thành phần phần mềm được lập trình và chạy end-to-end, cùng phần cứng mô phỏng và nền tảng IoT cloud.</a:t>
            </a:r>
          </a:p>
        </p:txBody>
      </p:sp>
      <p:sp>
        <p:nvSpPr>
          <p:cNvPr id="8" name="Rounded Rectangle 7"/>
          <p:cNvSpPr/>
          <p:nvPr/>
        </p:nvSpPr>
        <p:spPr>
          <a:xfrm>
            <a:off x="502920" y="1783080"/>
            <a:ext cx="3566160" cy="32461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02920" y="1783080"/>
            <a:ext cx="3566160" cy="658368"/>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
            </a:r>
            <a:r>
              <a:rPr sz="1400" b="1" i="0">
                <a:solidFill>
                  <a:srgbClr val="FFFFFF"/>
                </a:solidFill>
                <a:latin typeface="Arial"/>
              </a:rPr>
              <a:t>FIRMWARE</a:t>
            </a:r>
          </a:p>
          <a:p>
            <a:pPr algn="ctr"/>
            <a:r>
              <a:rPr sz="1050" b="0" i="0">
                <a:solidFill>
                  <a:srgbClr val="E3ECF7"/>
                </a:solidFill>
                <a:latin typeface="Arial"/>
              </a:rPr>
              <a:t>ESP32 · C++ (Arduino)</a:t>
            </a:r>
          </a:p>
        </p:txBody>
      </p:sp>
      <p:sp>
        <p:nvSpPr>
          <p:cNvPr id="10" name="TextBox 9"/>
          <p:cNvSpPr txBox="1"/>
          <p:nvPr/>
        </p:nvSpPr>
        <p:spPr>
          <a:xfrm>
            <a:off x="667512" y="2560320"/>
            <a:ext cx="3255264" cy="2331720"/>
          </a:xfrm>
          <a:prstGeom prst="rect">
            <a:avLst/>
          </a:prstGeom>
          <a:noFill/>
        </p:spPr>
        <p:txBody>
          <a:bodyPr wrap="square" anchor="t" lIns="36576" rIns="36576" tIns="18288" bIns="18288">
            <a:spAutoFit/>
          </a:bodyPr>
          <a:lstStyle/>
          <a:p>
            <a:pPr algn="l"/>
            <a:r>
              <a:rPr sz="1100" b="1" i="0">
                <a:solidFill>
                  <a:srgbClr val="0F2A54"/>
                </a:solidFill>
                <a:latin typeface="Arial"/>
              </a:rPr>
              <a:t>•  </a:t>
            </a:r>
            <a:r>
              <a:rPr sz="1100" b="0" i="0">
                <a:solidFill>
                  <a:srgbClr val="222A33"/>
                </a:solidFill>
                <a:latin typeface="Arial"/>
              </a:rPr>
              <a:t>Đọc DHT22: nhiệt độ, độ ẩm (retry 3 lần)</a:t>
            </a:r>
          </a:p>
          <a:p>
            <a:pPr algn="l"/>
            <a:r>
              <a:rPr sz="1100" b="1" i="0">
                <a:solidFill>
                  <a:srgbClr val="0F2A54"/>
                </a:solidFill>
                <a:latin typeface="Arial"/>
              </a:rPr>
              <a:t>•  </a:t>
            </a:r>
            <a:r>
              <a:rPr sz="1100" b="0" i="0">
                <a:solidFill>
                  <a:srgbClr val="222A33"/>
                </a:solidFill>
                <a:latin typeface="Arial"/>
              </a:rPr>
              <a:t>Giả lập CO₂ bằng biến trở (400–5000 ppm)</a:t>
            </a:r>
          </a:p>
          <a:p>
            <a:pPr algn="l"/>
            <a:r>
              <a:rPr sz="1100" b="1" i="0">
                <a:solidFill>
                  <a:srgbClr val="0F2A54"/>
                </a:solidFill>
                <a:latin typeface="Arial"/>
              </a:rPr>
              <a:t>•  </a:t>
            </a:r>
            <a:r>
              <a:rPr sz="1100" b="0" i="0">
                <a:solidFill>
                  <a:srgbClr val="222A33"/>
                </a:solidFill>
                <a:latin typeface="Arial"/>
              </a:rPr>
              <a:t>WiFi + MQTT/TLS, tự động reconnect</a:t>
            </a:r>
          </a:p>
          <a:p>
            <a:pPr algn="l"/>
            <a:r>
              <a:rPr sz="1100" b="1" i="0">
                <a:solidFill>
                  <a:srgbClr val="0F2A54"/>
                </a:solidFill>
                <a:latin typeface="Arial"/>
              </a:rPr>
              <a:t>•  </a:t>
            </a:r>
            <a:r>
              <a:rPr sz="1100" b="0" i="0">
                <a:solidFill>
                  <a:srgbClr val="222A33"/>
                </a:solidFill>
                <a:latin typeface="Arial"/>
              </a:rPr>
              <a:t>Đóng gói JSON + api_key, publish mỗi 5s</a:t>
            </a:r>
          </a:p>
        </p:txBody>
      </p:sp>
      <p:sp>
        <p:nvSpPr>
          <p:cNvPr id="11" name="Rounded Rectangle 10"/>
          <p:cNvSpPr/>
          <p:nvPr/>
        </p:nvSpPr>
        <p:spPr>
          <a:xfrm>
            <a:off x="4325112" y="1783080"/>
            <a:ext cx="3566160" cy="32461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325112" y="1783080"/>
            <a:ext cx="3566160" cy="658368"/>
          </a:xfrm>
          <a:prstGeom prst="roundRect">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
            </a:r>
            <a:r>
              <a:rPr sz="1400" b="1" i="0">
                <a:solidFill>
                  <a:srgbClr val="FFFFFF"/>
                </a:solidFill>
                <a:latin typeface="Arial"/>
              </a:rPr>
              <a:t>BACKEND</a:t>
            </a:r>
          </a:p>
          <a:p>
            <a:pPr algn="ctr"/>
            <a:r>
              <a:rPr sz="1050" b="0" i="0">
                <a:solidFill>
                  <a:srgbClr val="E3ECF7"/>
                </a:solidFill>
                <a:latin typeface="Arial"/>
              </a:rPr>
              <a:t>Node.js · Express</a:t>
            </a:r>
          </a:p>
        </p:txBody>
      </p:sp>
      <p:sp>
        <p:nvSpPr>
          <p:cNvPr id="13" name="TextBox 12"/>
          <p:cNvSpPr txBox="1"/>
          <p:nvPr/>
        </p:nvSpPr>
        <p:spPr>
          <a:xfrm>
            <a:off x="4489703" y="2560320"/>
            <a:ext cx="3255264" cy="2331720"/>
          </a:xfrm>
          <a:prstGeom prst="rect">
            <a:avLst/>
          </a:prstGeom>
          <a:noFill/>
        </p:spPr>
        <p:txBody>
          <a:bodyPr wrap="square" anchor="t" lIns="36576" rIns="36576" tIns="18288" bIns="18288">
            <a:spAutoFit/>
          </a:bodyPr>
          <a:lstStyle/>
          <a:p>
            <a:pPr algn="l"/>
            <a:r>
              <a:rPr sz="1100" b="1" i="0">
                <a:solidFill>
                  <a:srgbClr val="2B5B9E"/>
                </a:solidFill>
                <a:latin typeface="Arial"/>
              </a:rPr>
              <a:t>•  </a:t>
            </a:r>
            <a:r>
              <a:rPr sz="1100" b="0" i="0">
                <a:solidFill>
                  <a:srgbClr val="222A33"/>
                </a:solidFill>
                <a:latin typeface="Arial"/>
              </a:rPr>
              <a:t>MQTT subscriber: xác thực api_key → lưu DB</a:t>
            </a:r>
          </a:p>
          <a:p>
            <a:pPr algn="l"/>
            <a:r>
              <a:rPr sz="1100" b="1" i="0">
                <a:solidFill>
                  <a:srgbClr val="2B5B9E"/>
                </a:solidFill>
                <a:latin typeface="Arial"/>
              </a:rPr>
              <a:t>•  </a:t>
            </a:r>
            <a:r>
              <a:rPr sz="1100" b="0" i="0">
                <a:solidFill>
                  <a:srgbClr val="222A33"/>
                </a:solidFill>
                <a:latin typeface="Arial"/>
              </a:rPr>
              <a:t>So ngưỡng → sinh cảnh báo (cooldown 5')</a:t>
            </a:r>
          </a:p>
          <a:p>
            <a:pPr algn="l"/>
            <a:r>
              <a:rPr sz="1100" b="1" i="0">
                <a:solidFill>
                  <a:srgbClr val="2B5B9E"/>
                </a:solidFill>
                <a:latin typeface="Arial"/>
              </a:rPr>
              <a:t>•  </a:t>
            </a:r>
            <a:r>
              <a:rPr sz="1100" b="0" i="0">
                <a:solidFill>
                  <a:srgbClr val="222A33"/>
                </a:solidFill>
                <a:latin typeface="Arial"/>
              </a:rPr>
              <a:t>REST API: auth · sensor · alerts · settings</a:t>
            </a:r>
          </a:p>
          <a:p>
            <a:pPr algn="l"/>
            <a:r>
              <a:rPr sz="1100" b="1" i="0">
                <a:solidFill>
                  <a:srgbClr val="2B5B9E"/>
                </a:solidFill>
                <a:latin typeface="Arial"/>
              </a:rPr>
              <a:t>•  </a:t>
            </a:r>
            <a:r>
              <a:rPr sz="1100" b="0" i="0">
                <a:solidFill>
                  <a:srgbClr val="222A33"/>
                </a:solidFill>
                <a:latin typeface="Arial"/>
              </a:rPr>
              <a:t>MongoDB (Mongoose) — 4 collection dữ liệu</a:t>
            </a:r>
          </a:p>
          <a:p>
            <a:pPr algn="l"/>
            <a:r>
              <a:rPr sz="1100" b="1" i="0">
                <a:solidFill>
                  <a:srgbClr val="2B5B9E"/>
                </a:solidFill>
                <a:latin typeface="Arial"/>
              </a:rPr>
              <a:t>•  </a:t>
            </a:r>
            <a:r>
              <a:rPr sz="1100" b="0" i="0">
                <a:solidFill>
                  <a:srgbClr val="222A33"/>
                </a:solidFill>
                <a:latin typeface="Arial"/>
              </a:rPr>
              <a:t>Bảo mật: JWT · rate-limit · Cache no-store</a:t>
            </a:r>
          </a:p>
        </p:txBody>
      </p:sp>
      <p:sp>
        <p:nvSpPr>
          <p:cNvPr id="14" name="Rounded Rectangle 13"/>
          <p:cNvSpPr/>
          <p:nvPr/>
        </p:nvSpPr>
        <p:spPr>
          <a:xfrm>
            <a:off x="8147304" y="1783080"/>
            <a:ext cx="3566160" cy="32461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147304" y="1783080"/>
            <a:ext cx="3566160" cy="658368"/>
          </a:xfrm>
          <a:prstGeom prst="round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latin typeface="Arial"/>
              </a:rPr>
              <a:t/>
            </a:r>
            <a:r>
              <a:rPr sz="1400" b="1" i="0">
                <a:solidFill>
                  <a:srgbClr val="FFFFFF"/>
                </a:solidFill>
                <a:latin typeface="Arial"/>
              </a:rPr>
              <a:t>FRONTEND</a:t>
            </a:r>
          </a:p>
          <a:p>
            <a:pPr algn="ctr"/>
            <a:r>
              <a:rPr sz="1050" b="0" i="0">
                <a:solidFill>
                  <a:srgbClr val="E3ECF7"/>
                </a:solidFill>
                <a:latin typeface="Arial"/>
              </a:rPr>
              <a:t>Vue 3 · Vite</a:t>
            </a:r>
          </a:p>
        </p:txBody>
      </p:sp>
      <p:sp>
        <p:nvSpPr>
          <p:cNvPr id="16" name="TextBox 15"/>
          <p:cNvSpPr txBox="1"/>
          <p:nvPr/>
        </p:nvSpPr>
        <p:spPr>
          <a:xfrm>
            <a:off x="8311896" y="2560320"/>
            <a:ext cx="3255264" cy="2331720"/>
          </a:xfrm>
          <a:prstGeom prst="rect">
            <a:avLst/>
          </a:prstGeom>
          <a:noFill/>
        </p:spPr>
        <p:txBody>
          <a:bodyPr wrap="square" anchor="t" lIns="36576" rIns="36576" tIns="18288" bIns="18288">
            <a:spAutoFit/>
          </a:bodyPr>
          <a:lstStyle/>
          <a:p>
            <a:pPr algn="l"/>
            <a:r>
              <a:rPr sz="1100" b="1" i="0">
                <a:solidFill>
                  <a:srgbClr val="C4122D"/>
                </a:solidFill>
                <a:latin typeface="Arial"/>
              </a:rPr>
              <a:t>•  </a:t>
            </a:r>
            <a:r>
              <a:rPr sz="1100" b="0" i="0">
                <a:solidFill>
                  <a:srgbClr val="222A33"/>
                </a:solidFill>
                <a:latin typeface="Arial"/>
              </a:rPr>
              <a:t>SPA 5 tab (Dashboard / Lịch sử / Cảnh báo…)</a:t>
            </a:r>
          </a:p>
          <a:p>
            <a:pPr algn="l"/>
            <a:r>
              <a:rPr sz="1100" b="1" i="0">
                <a:solidFill>
                  <a:srgbClr val="C4122D"/>
                </a:solidFill>
                <a:latin typeface="Arial"/>
              </a:rPr>
              <a:t>•  </a:t>
            </a:r>
            <a:r>
              <a:rPr sz="1100" b="0" i="0">
                <a:solidFill>
                  <a:srgbClr val="222A33"/>
                </a:solidFill>
                <a:latin typeface="Arial"/>
              </a:rPr>
              <a:t>Gauge + mini-chart realtime (Chart.js)</a:t>
            </a:r>
          </a:p>
          <a:p>
            <a:pPr algn="l"/>
            <a:r>
              <a:rPr sz="1100" b="1" i="0">
                <a:solidFill>
                  <a:srgbClr val="C4122D"/>
                </a:solidFill>
                <a:latin typeface="Arial"/>
              </a:rPr>
              <a:t>•  </a:t>
            </a:r>
            <a:r>
              <a:rPr sz="1100" b="0" i="0">
                <a:solidFill>
                  <a:srgbClr val="222A33"/>
                </a:solidFill>
                <a:latin typeface="Arial"/>
              </a:rPr>
              <a:t>Đăng nhập / đăng ký, tự refresh token</a:t>
            </a:r>
          </a:p>
          <a:p>
            <a:pPr algn="l"/>
            <a:r>
              <a:rPr sz="1100" b="1" i="0">
                <a:solidFill>
                  <a:srgbClr val="C4122D"/>
                </a:solidFill>
                <a:latin typeface="Arial"/>
              </a:rPr>
              <a:t>•  </a:t>
            </a:r>
            <a:r>
              <a:rPr sz="1100" b="0" i="0">
                <a:solidFill>
                  <a:srgbClr val="222A33"/>
                </a:solidFill>
                <a:latin typeface="Arial"/>
              </a:rPr>
              <a:t>Xuất CSV, quản lý &amp; lọc cảnh báo</a:t>
            </a:r>
          </a:p>
        </p:txBody>
      </p:sp>
      <p:sp>
        <p:nvSpPr>
          <p:cNvPr id="17" name="Rounded Rectangle 16"/>
          <p:cNvSpPr/>
          <p:nvPr/>
        </p:nvSpPr>
        <p:spPr>
          <a:xfrm>
            <a:off x="502920" y="5257800"/>
            <a:ext cx="5468112" cy="914400"/>
          </a:xfrm>
          <a:prstGeom prst="roundRect">
            <a:avLst>
              <a:gd name="adj" fmla="val 10000"/>
            </a:avLst>
          </a:prstGeom>
          <a:solidFill>
            <a:srgbClr val="E4F5EA"/>
          </a:solidFill>
          <a:ln w="16510">
            <a:solidFill>
              <a:srgbClr val="1E9E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1" i="0">
                <a:solidFill>
                  <a:srgbClr val="1E9E4F"/>
                </a:solidFill>
                <a:latin typeface="Arial"/>
              </a:rPr>
              <a:t>PHẦN CỨNG (mô phỏng)</a:t>
            </a:r>
          </a:p>
          <a:p>
            <a:pPr algn="l"/>
            <a:r>
              <a:rPr sz="1050" b="0" i="0">
                <a:solidFill>
                  <a:srgbClr val="222A33"/>
                </a:solidFill>
                <a:latin typeface="Arial"/>
              </a:rPr>
              <a:t>ESP32 + DHT22 + biến trở CO₂ mô phỏng trên Wokwi — chưa dựng phần cứng vật lý</a:t>
            </a:r>
          </a:p>
        </p:txBody>
      </p:sp>
      <p:sp>
        <p:nvSpPr>
          <p:cNvPr id="18" name="Rounded Rectangle 17"/>
          <p:cNvSpPr/>
          <p:nvPr/>
        </p:nvSpPr>
        <p:spPr>
          <a:xfrm>
            <a:off x="6236208" y="5257800"/>
            <a:ext cx="5468112" cy="914400"/>
          </a:xfrm>
          <a:prstGeom prst="roundRect">
            <a:avLst>
              <a:gd name="adj" fmla="val 10000"/>
            </a:avLst>
          </a:prstGeom>
          <a:solidFill>
            <a:srgbClr val="D3E4F7"/>
          </a:solidFill>
          <a:ln w="1651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50" b="1" i="0">
                <a:solidFill>
                  <a:srgbClr val="0F2A54"/>
                </a:solidFill>
                <a:latin typeface="Arial"/>
              </a:rPr>
              <a:t>NỀN TẢNG IoT</a:t>
            </a:r>
          </a:p>
          <a:p>
            <a:pPr algn="l"/>
            <a:r>
              <a:rPr sz="1050" b="0" i="0">
                <a:solidFill>
                  <a:srgbClr val="222A33"/>
                </a:solidFill>
                <a:latin typeface="Arial"/>
              </a:rPr>
              <a:t>HiveMQ Cloud — MQTT broker managed, kết nối bảo mật qua TLS (cổng 8883)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TRIỂN KHAI — FIRMWARE ESP32</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9</a:t>
            </a:r>
          </a:p>
        </p:txBody>
      </p:sp>
      <p:sp>
        <p:nvSpPr>
          <p:cNvPr id="7" name="Rounded Rectangle 6"/>
          <p:cNvSpPr/>
          <p:nvPr/>
        </p:nvSpPr>
        <p:spPr>
          <a:xfrm>
            <a:off x="502920" y="1325880"/>
            <a:ext cx="5468112" cy="3246120"/>
          </a:xfrm>
          <a:prstGeom prst="roundRect">
            <a:avLst>
              <a:gd name="adj" fmla="val 10000"/>
            </a:avLst>
          </a:prstGeom>
          <a:solidFill>
            <a:srgbClr val="E4F5EA"/>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02920" y="1325880"/>
            <a:ext cx="5468112" cy="548640"/>
          </a:xfrm>
          <a:prstGeom prst="roundRect">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LINH KIỆN &amp; CẤU HÌNH</a:t>
            </a:r>
          </a:p>
        </p:txBody>
      </p:sp>
      <p:sp>
        <p:nvSpPr>
          <p:cNvPr id="9" name="TextBox 8"/>
          <p:cNvSpPr txBox="1"/>
          <p:nvPr/>
        </p:nvSpPr>
        <p:spPr>
          <a:xfrm>
            <a:off x="685800" y="1984248"/>
            <a:ext cx="5102352" cy="2496311"/>
          </a:xfrm>
          <a:prstGeom prst="rect">
            <a:avLst/>
          </a:prstGeom>
          <a:noFill/>
        </p:spPr>
        <p:txBody>
          <a:bodyPr wrap="square" anchor="t" lIns="36576" rIns="36576" tIns="18288" bIns="18288">
            <a:spAutoFit/>
          </a:bodyPr>
          <a:lstStyle/>
          <a:p>
            <a:pPr algn="l"/>
            <a:r>
              <a:rPr sz="1150" b="1" i="0">
                <a:solidFill>
                  <a:srgbClr val="1E9E4F"/>
                </a:solidFill>
                <a:latin typeface="Arial"/>
              </a:rPr>
              <a:t>•  </a:t>
            </a:r>
            <a:r>
              <a:rPr sz="1150" b="0" i="0">
                <a:solidFill>
                  <a:srgbClr val="222A33"/>
                </a:solidFill>
                <a:latin typeface="Arial"/>
              </a:rPr>
              <a:t>DHT22  →  GPIO 15  (đọc nhiệt độ, độ ẩm)</a:t>
            </a:r>
          </a:p>
          <a:p>
            <a:pPr algn="l"/>
            <a:r>
              <a:rPr sz="1150" b="1" i="0">
                <a:solidFill>
                  <a:srgbClr val="1E9E4F"/>
                </a:solidFill>
                <a:latin typeface="Arial"/>
              </a:rPr>
              <a:t>•  </a:t>
            </a:r>
            <a:r>
              <a:rPr sz="1150" b="0" i="0">
                <a:solidFill>
                  <a:srgbClr val="222A33"/>
                </a:solidFill>
                <a:latin typeface="Arial"/>
              </a:rPr>
              <a:t>Biến trở CO₂  →  GPIO 34  (ADC1)</a:t>
            </a:r>
          </a:p>
          <a:p>
            <a:pPr algn="l"/>
            <a:r>
              <a:rPr sz="1150" b="1" i="0">
                <a:solidFill>
                  <a:srgbClr val="1E9E4F"/>
                </a:solidFill>
                <a:latin typeface="Arial"/>
              </a:rPr>
              <a:t>•  </a:t>
            </a:r>
            <a:r>
              <a:rPr sz="1150" b="0" i="0">
                <a:solidFill>
                  <a:srgbClr val="222A33"/>
                </a:solidFill>
                <a:latin typeface="Arial"/>
              </a:rPr>
              <a:t>Board: ESP32 DevKit — mô phỏng trên Wokwi</a:t>
            </a:r>
          </a:p>
          <a:p>
            <a:pPr algn="l"/>
            <a:r>
              <a:rPr sz="1150" b="1" i="0">
                <a:solidFill>
                  <a:srgbClr val="1E9E4F"/>
                </a:solidFill>
                <a:latin typeface="Arial"/>
              </a:rPr>
              <a:t>•  </a:t>
            </a:r>
            <a:r>
              <a:rPr sz="1150" b="0" i="0">
                <a:solidFill>
                  <a:srgbClr val="222A33"/>
                </a:solidFill>
                <a:latin typeface="Arial"/>
              </a:rPr>
              <a:t>Thư viện: DHT (Adafruit), PubSubClient, ArduinoJson</a:t>
            </a:r>
          </a:p>
          <a:p>
            <a:pPr algn="l"/>
            <a:r>
              <a:rPr sz="1150" b="1" i="0">
                <a:solidFill>
                  <a:srgbClr val="1E9E4F"/>
                </a:solidFill>
                <a:latin typeface="Arial"/>
              </a:rPr>
              <a:t>•  </a:t>
            </a:r>
            <a:r>
              <a:rPr sz="1150" b="0" i="0">
                <a:solidFill>
                  <a:srgbClr val="222A33"/>
                </a:solidFill>
                <a:latin typeface="Arial"/>
              </a:rPr>
              <a:t>Chu kỳ gửi: mỗi 5 giây (SEND_INTERVAL = 5000ms)</a:t>
            </a:r>
          </a:p>
        </p:txBody>
      </p:sp>
      <p:sp>
        <p:nvSpPr>
          <p:cNvPr id="10" name="Rounded Rectangle 9"/>
          <p:cNvSpPr/>
          <p:nvPr/>
        </p:nvSpPr>
        <p:spPr>
          <a:xfrm>
            <a:off x="6236208" y="1325880"/>
            <a:ext cx="5468112" cy="32461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36208" y="1325880"/>
            <a:ext cx="5468112"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LUỒNG XỬ LÝ (mỗi 5 giây)</a:t>
            </a:r>
          </a:p>
        </p:txBody>
      </p:sp>
      <p:sp>
        <p:nvSpPr>
          <p:cNvPr id="12" name="TextBox 11"/>
          <p:cNvSpPr txBox="1"/>
          <p:nvPr/>
        </p:nvSpPr>
        <p:spPr>
          <a:xfrm>
            <a:off x="6419088" y="1984248"/>
            <a:ext cx="5102352" cy="2496311"/>
          </a:xfrm>
          <a:prstGeom prst="rect">
            <a:avLst/>
          </a:prstGeom>
          <a:noFill/>
        </p:spPr>
        <p:txBody>
          <a:bodyPr wrap="square" anchor="t" lIns="36576" rIns="36576" tIns="18288" bIns="18288">
            <a:spAutoFit/>
          </a:bodyPr>
          <a:lstStyle/>
          <a:p>
            <a:pPr algn="l"/>
            <a:r>
              <a:rPr sz="1150" b="1" i="0">
                <a:solidFill>
                  <a:srgbClr val="0F2A54"/>
                </a:solidFill>
                <a:latin typeface="Arial"/>
              </a:rPr>
              <a:t>•  </a:t>
            </a:r>
            <a:r>
              <a:rPr sz="1150" b="0" i="0">
                <a:solidFill>
                  <a:srgbClr val="222A33"/>
                </a:solidFill>
                <a:latin typeface="Arial"/>
              </a:rPr>
              <a:t>Đọc DHT22 — ổn định 2s, retry tối đa 3 lần (cách 300ms)</a:t>
            </a:r>
          </a:p>
          <a:p>
            <a:pPr algn="l"/>
            <a:r>
              <a:rPr sz="1150" b="1" i="0">
                <a:solidFill>
                  <a:srgbClr val="0F2A54"/>
                </a:solidFill>
                <a:latin typeface="Arial"/>
              </a:rPr>
              <a:t>•  </a:t>
            </a:r>
            <a:r>
              <a:rPr sz="1150" b="0" i="0">
                <a:solidFill>
                  <a:srgbClr val="222A33"/>
                </a:solidFill>
                <a:latin typeface="Arial"/>
              </a:rPr>
              <a:t>Đọc ADC biến trở → map 0–3.3V thành 400–5000 ppm</a:t>
            </a:r>
          </a:p>
          <a:p>
            <a:pPr algn="l"/>
            <a:r>
              <a:rPr sz="1150" b="1" i="0">
                <a:solidFill>
                  <a:srgbClr val="0F2A54"/>
                </a:solidFill>
                <a:latin typeface="Arial"/>
              </a:rPr>
              <a:t>•  </a:t>
            </a:r>
            <a:r>
              <a:rPr sz="1150" b="0" i="0">
                <a:solidFill>
                  <a:srgbClr val="222A33"/>
                </a:solidFill>
                <a:latin typeface="Arial"/>
              </a:rPr>
              <a:t>Đóng gói JSON {device_id, api_key, temperature,</a:t>
            </a:r>
          </a:p>
          <a:p>
            <a:pPr algn="l"/>
            <a:r>
              <a:rPr sz="1150" b="1" i="0">
                <a:solidFill>
                  <a:srgbClr val="0F2A54"/>
                </a:solidFill>
                <a:latin typeface="Arial"/>
              </a:rPr>
              <a:t>•  </a:t>
            </a:r>
            <a:r>
              <a:rPr sz="1150" b="0" i="0">
                <a:solidFill>
                  <a:srgbClr val="222A33"/>
                </a:solidFill>
                <a:latin typeface="Arial"/>
              </a:rPr>
              <a:t>        humidity, co2}</a:t>
            </a:r>
          </a:p>
          <a:p>
            <a:pPr algn="l"/>
            <a:r>
              <a:rPr sz="1150" b="1" i="0">
                <a:solidFill>
                  <a:srgbClr val="0F2A54"/>
                </a:solidFill>
                <a:latin typeface="Arial"/>
              </a:rPr>
              <a:t>•  </a:t>
            </a:r>
            <a:r>
              <a:rPr sz="1150" b="0" i="0">
                <a:solidFill>
                  <a:srgbClr val="222A33"/>
                </a:solidFill>
                <a:latin typeface="Arial"/>
              </a:rPr>
              <a:t>Publish lên topic iot/airquality/room1 qua MQTT/TLS</a:t>
            </a:r>
          </a:p>
        </p:txBody>
      </p:sp>
      <p:sp>
        <p:nvSpPr>
          <p:cNvPr id="13" name="Rounded Rectangle 12"/>
          <p:cNvSpPr/>
          <p:nvPr/>
        </p:nvSpPr>
        <p:spPr>
          <a:xfrm>
            <a:off x="502920" y="4754880"/>
            <a:ext cx="11201400" cy="1234440"/>
          </a:xfrm>
          <a:prstGeom prst="roundRect">
            <a:avLst>
              <a:gd name="adj" fmla="val 10000"/>
            </a:avLst>
          </a:prstGeom>
          <a:solidFill>
            <a:srgbClr val="F1F3F5"/>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4088" y="4846320"/>
            <a:ext cx="10835640" cy="1051560"/>
          </a:xfrm>
          <a:prstGeom prst="rect">
            <a:avLst/>
          </a:prstGeom>
          <a:noFill/>
        </p:spPr>
        <p:txBody>
          <a:bodyPr wrap="square" anchor="ctr" lIns="36576" rIns="36576" tIns="18288" bIns="18288">
            <a:spAutoFit/>
          </a:bodyPr>
          <a:lstStyle/>
          <a:p>
            <a:pPr algn="l"/>
            <a:r>
              <a:rPr sz="1150" b="1" i="0">
                <a:solidFill>
                  <a:srgbClr val="0F2A54"/>
                </a:solidFill>
                <a:latin typeface="Arial"/>
              </a:rPr>
              <a:t>KẾT NỐI &amp; BẢO MẬT ĐƯỜNG TRUYỀN</a:t>
            </a:r>
          </a:p>
          <a:p>
            <a:pPr algn="l"/>
            <a:r>
              <a:rPr sz="1150" b="0" i="0">
                <a:solidFill>
                  <a:srgbClr val="222A33"/>
                </a:solidFill>
                <a:latin typeface="Arial"/>
              </a:rPr>
              <a:t>WiFi Wokwi-GUEST (tự động reconnect khi mất kết nối)  ·  MQTT broker HiveMQ Cloud, cổng 8883  ·  WiFiClientSecure.setCACert() với root CA thật (ISRG Root X1) để xác thực chứng chỉ broker — KHÔNG dùng setInsecure(), chống tấn công giả mạo broker (MITM).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KIỂM CHỨNG GIAO TIẾP MQTT</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10</a:t>
            </a:r>
          </a:p>
        </p:txBody>
      </p:sp>
      <p:sp>
        <p:nvSpPr>
          <p:cNvPr id="7" name="Rounded Rectangle 6"/>
          <p:cNvSpPr/>
          <p:nvPr/>
        </p:nvSpPr>
        <p:spPr>
          <a:xfrm>
            <a:off x="502920" y="1417320"/>
            <a:ext cx="6903720" cy="3977639"/>
          </a:xfrm>
          <a:prstGeom prst="roundRect">
            <a:avLst>
              <a:gd name="adj" fmla="val 4000"/>
            </a:avLst>
          </a:prstGeom>
          <a:solidFill>
            <a:srgbClr val="1E253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64592" rIns="137160"/>
          <a:lstStyle/>
          <a:p>
            <a:pPr algn="l">
              <a:spcAft>
                <a:spcPts val="600"/>
              </a:spcAft>
            </a:pPr>
            <a:r>
              <a:rPr sz="1350">
                <a:solidFill>
                  <a:srgbClr val="7A8794"/>
                </a:solidFill>
                <a:latin typeface="Consolas"/>
              </a:rPr>
              <a:t>load:0x40080400,len:2972</a:t>
            </a:r>
          </a:p>
          <a:p>
            <a:pPr algn="l">
              <a:spcAft>
                <a:spcPts val="600"/>
              </a:spcAft>
            </a:pPr>
            <a:r>
              <a:rPr sz="1350">
                <a:solidFill>
                  <a:srgbClr val="7A8794"/>
                </a:solidFill>
                <a:latin typeface="Consolas"/>
              </a:rPr>
              <a:t>entry 0x400805dc</a:t>
            </a:r>
          </a:p>
          <a:p>
            <a:pPr algn="l">
              <a:spcAft>
                <a:spcPts val="600"/>
              </a:spcAft>
            </a:pPr>
            <a:r>
              <a:rPr sz="1350">
                <a:solidFill>
                  <a:srgbClr val="E6EDF3"/>
                </a:solidFill>
                <a:latin typeface="Consolas"/>
              </a:rPr>
              <a:t>Connecting to WiFi: Wokwi-GUEST......</a:t>
            </a:r>
          </a:p>
          <a:p>
            <a:pPr algn="l">
              <a:spcAft>
                <a:spcPts val="600"/>
              </a:spcAft>
            </a:pPr>
            <a:r>
              <a:rPr sz="1350">
                <a:solidFill>
                  <a:srgbClr val="6FC3DF"/>
                </a:solidFill>
                <a:latin typeface="Consolas"/>
              </a:rPr>
              <a:t>WiFi connected — IP: 10.10.0.2</a:t>
            </a:r>
          </a:p>
          <a:p>
            <a:pPr algn="l">
              <a:spcAft>
                <a:spcPts val="600"/>
              </a:spcAft>
            </a:pPr>
            <a:r>
              <a:rPr sz="1350">
                <a:solidFill>
                  <a:srgbClr val="5BD675"/>
                </a:solidFill>
                <a:latin typeface="Consolas"/>
              </a:rPr>
              <a:t>Connecting to MQTT... connected!</a:t>
            </a:r>
          </a:p>
          <a:p>
            <a:pPr algn="l">
              <a:spcAft>
                <a:spcPts val="600"/>
              </a:spcAft>
            </a:pPr>
            <a:r>
              <a:rPr sz="1350">
                <a:solidFill>
                  <a:srgbClr val="E6EDF3"/>
                </a:solidFill>
                <a:latin typeface="Consolas"/>
              </a:rPr>
              <a:t>AirIQ ready — publishing every 5s</a:t>
            </a:r>
          </a:p>
          <a:p>
            <a:pPr algn="l">
              <a:spcAft>
                <a:spcPts val="600"/>
              </a:spcAft>
            </a:pPr>
            <a:r>
              <a:rPr sz="1350">
                <a:solidFill>
                  <a:srgbClr val="5BD675"/>
                </a:solidFill>
                <a:latin typeface="Consolas"/>
              </a:rPr>
              <a:t>[OK] temp=24.0 hum=40.0 co2=624 → iot/airquality/room1</a:t>
            </a:r>
          </a:p>
        </p:txBody>
      </p:sp>
      <p:sp>
        <p:nvSpPr>
          <p:cNvPr id="8" name="TextBox 7"/>
          <p:cNvSpPr txBox="1"/>
          <p:nvPr/>
        </p:nvSpPr>
        <p:spPr>
          <a:xfrm>
            <a:off x="548640" y="5440680"/>
            <a:ext cx="6858000" cy="320040"/>
          </a:xfrm>
          <a:prstGeom prst="rect">
            <a:avLst/>
          </a:prstGeom>
          <a:noFill/>
        </p:spPr>
        <p:txBody>
          <a:bodyPr wrap="square" anchor="t" lIns="36576" rIns="36576" tIns="18288" bIns="18288">
            <a:spAutoFit/>
          </a:bodyPr>
          <a:lstStyle/>
          <a:p>
            <a:pPr algn="l"/>
            <a:r>
              <a:rPr sz="1000" b="0" i="1">
                <a:solidFill>
                  <a:srgbClr val="5B6672"/>
                </a:solidFill>
                <a:latin typeface="Arial"/>
              </a:rPr>
              <a:t>▲ Serial Monitor — thiết bị ESP32 trên Wokwi</a:t>
            </a:r>
          </a:p>
        </p:txBody>
      </p:sp>
      <p:sp>
        <p:nvSpPr>
          <p:cNvPr id="9" name="Rounded Rectangle 8"/>
          <p:cNvSpPr/>
          <p:nvPr/>
        </p:nvSpPr>
        <p:spPr>
          <a:xfrm>
            <a:off x="7589520" y="1417320"/>
            <a:ext cx="4114800" cy="3977639"/>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589520" y="1417320"/>
            <a:ext cx="4114800"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LOG NÀY CHỨNG MINH</a:t>
            </a:r>
          </a:p>
        </p:txBody>
      </p:sp>
      <p:sp>
        <p:nvSpPr>
          <p:cNvPr id="11" name="Oval 10"/>
          <p:cNvSpPr/>
          <p:nvPr/>
        </p:nvSpPr>
        <p:spPr>
          <a:xfrm>
            <a:off x="7772400" y="2212848"/>
            <a:ext cx="292608" cy="292608"/>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a:t>
            </a:r>
          </a:p>
        </p:txBody>
      </p:sp>
      <p:sp>
        <p:nvSpPr>
          <p:cNvPr id="12" name="TextBox 11"/>
          <p:cNvSpPr txBox="1"/>
          <p:nvPr/>
        </p:nvSpPr>
        <p:spPr>
          <a:xfrm>
            <a:off x="8183879" y="2121408"/>
            <a:ext cx="3429000" cy="685800"/>
          </a:xfrm>
          <a:prstGeom prst="rect">
            <a:avLst/>
          </a:prstGeom>
          <a:noFill/>
        </p:spPr>
        <p:txBody>
          <a:bodyPr wrap="square" anchor="ctr" lIns="36576" rIns="36576" tIns="18288" bIns="18288">
            <a:spAutoFit/>
          </a:bodyPr>
          <a:lstStyle/>
          <a:p>
            <a:pPr algn="l"/>
            <a:r>
              <a:rPr sz="1100" b="0" i="0">
                <a:solidFill>
                  <a:srgbClr val="222A33"/>
                </a:solidFill>
                <a:latin typeface="Arial"/>
              </a:rPr>
              <a:t>Kết nối WiFi thành công (được cấp IP 10.10.0.2)</a:t>
            </a:r>
          </a:p>
        </p:txBody>
      </p:sp>
      <p:sp>
        <p:nvSpPr>
          <p:cNvPr id="13" name="Oval 12"/>
          <p:cNvSpPr/>
          <p:nvPr/>
        </p:nvSpPr>
        <p:spPr>
          <a:xfrm>
            <a:off x="7772400" y="2990088"/>
            <a:ext cx="292608" cy="292608"/>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a:t>
            </a:r>
          </a:p>
        </p:txBody>
      </p:sp>
      <p:sp>
        <p:nvSpPr>
          <p:cNvPr id="14" name="TextBox 13"/>
          <p:cNvSpPr txBox="1"/>
          <p:nvPr/>
        </p:nvSpPr>
        <p:spPr>
          <a:xfrm>
            <a:off x="8183879" y="2898648"/>
            <a:ext cx="3429000" cy="685800"/>
          </a:xfrm>
          <a:prstGeom prst="rect">
            <a:avLst/>
          </a:prstGeom>
          <a:noFill/>
        </p:spPr>
        <p:txBody>
          <a:bodyPr wrap="square" anchor="ctr" lIns="36576" rIns="36576" tIns="18288" bIns="18288">
            <a:spAutoFit/>
          </a:bodyPr>
          <a:lstStyle/>
          <a:p>
            <a:pPr algn="l"/>
            <a:r>
              <a:rPr sz="1100" b="0" i="0">
                <a:solidFill>
                  <a:srgbClr val="222A33"/>
                </a:solidFill>
                <a:latin typeface="Arial"/>
              </a:rPr>
              <a:t>Kết nối MQTT broker HiveMQ thành công (qua TLS 8883)</a:t>
            </a:r>
          </a:p>
        </p:txBody>
      </p:sp>
      <p:sp>
        <p:nvSpPr>
          <p:cNvPr id="15" name="Oval 14"/>
          <p:cNvSpPr/>
          <p:nvPr/>
        </p:nvSpPr>
        <p:spPr>
          <a:xfrm>
            <a:off x="7772400" y="3767328"/>
            <a:ext cx="292608" cy="292608"/>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a:t>
            </a:r>
          </a:p>
        </p:txBody>
      </p:sp>
      <p:sp>
        <p:nvSpPr>
          <p:cNvPr id="16" name="TextBox 15"/>
          <p:cNvSpPr txBox="1"/>
          <p:nvPr/>
        </p:nvSpPr>
        <p:spPr>
          <a:xfrm>
            <a:off x="8183879" y="3675888"/>
            <a:ext cx="3429000" cy="685800"/>
          </a:xfrm>
          <a:prstGeom prst="rect">
            <a:avLst/>
          </a:prstGeom>
          <a:noFill/>
        </p:spPr>
        <p:txBody>
          <a:bodyPr wrap="square" anchor="ctr" lIns="36576" rIns="36576" tIns="18288" bIns="18288">
            <a:spAutoFit/>
          </a:bodyPr>
          <a:lstStyle/>
          <a:p>
            <a:pPr algn="l"/>
            <a:r>
              <a:rPr sz="1100" b="0" i="0">
                <a:solidFill>
                  <a:srgbClr val="222A33"/>
                </a:solidFill>
                <a:latin typeface="Arial"/>
              </a:rPr>
              <a:t>Thiết bị publish đều đặn mỗi 5 giây</a:t>
            </a:r>
          </a:p>
        </p:txBody>
      </p:sp>
      <p:sp>
        <p:nvSpPr>
          <p:cNvPr id="17" name="Oval 16"/>
          <p:cNvSpPr/>
          <p:nvPr/>
        </p:nvSpPr>
        <p:spPr>
          <a:xfrm>
            <a:off x="7772400" y="4544568"/>
            <a:ext cx="292608" cy="292608"/>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a:t>
            </a:r>
          </a:p>
        </p:txBody>
      </p:sp>
      <p:sp>
        <p:nvSpPr>
          <p:cNvPr id="18" name="TextBox 17"/>
          <p:cNvSpPr txBox="1"/>
          <p:nvPr/>
        </p:nvSpPr>
        <p:spPr>
          <a:xfrm>
            <a:off x="8183879" y="4453128"/>
            <a:ext cx="3429000" cy="685800"/>
          </a:xfrm>
          <a:prstGeom prst="rect">
            <a:avLst/>
          </a:prstGeom>
          <a:noFill/>
        </p:spPr>
        <p:txBody>
          <a:bodyPr wrap="square" anchor="ctr" lIns="36576" rIns="36576" tIns="18288" bIns="18288">
            <a:spAutoFit/>
          </a:bodyPr>
          <a:lstStyle/>
          <a:p>
            <a:pPr algn="l"/>
            <a:r>
              <a:rPr sz="1100" b="0" i="0">
                <a:solidFill>
                  <a:srgbClr val="222A33"/>
                </a:solidFill>
                <a:latin typeface="Arial"/>
              </a:rPr>
              <a:t>Dữ liệu thật (nhiệt độ, độ ẩm, CO₂) lên đúng topic iot/airquality/room1</a:t>
            </a:r>
          </a:p>
        </p:txBody>
      </p:sp>
      <p:sp>
        <p:nvSpPr>
          <p:cNvPr id="19" name="Rounded Rectangle 18"/>
          <p:cNvSpPr/>
          <p:nvPr/>
        </p:nvSpPr>
        <p:spPr>
          <a:xfrm>
            <a:off x="502920" y="5852160"/>
            <a:ext cx="11201400" cy="457200"/>
          </a:xfrm>
          <a:prstGeom prst="roundRect">
            <a:avLst>
              <a:gd name="adj" fmla="val 30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i="0">
                <a:solidFill>
                  <a:srgbClr val="FFFFFF"/>
                </a:solidFill>
                <a:latin typeface="Arial"/>
              </a:rPr>
              <a:t>Toàn bộ pipeline gửi dữ liệu (ESP32 → MQTT/TLS → HiveMQ) đã chạy thật và được xác nhận qua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TRIỂN KHAI — BACKEND (Node.js / Express)</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11</a:t>
            </a:r>
          </a:p>
        </p:txBody>
      </p:sp>
      <p:sp>
        <p:nvSpPr>
          <p:cNvPr id="7" name="Rounded Rectangle 6"/>
          <p:cNvSpPr/>
          <p:nvPr/>
        </p:nvSpPr>
        <p:spPr>
          <a:xfrm>
            <a:off x="502920" y="1325880"/>
            <a:ext cx="5468112" cy="32461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02920" y="1325880"/>
            <a:ext cx="5468112" cy="548640"/>
          </a:xfrm>
          <a:prstGeom prst="roundRect">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TIẾP NHẬN &amp; XỬ LÝ (MQTT subscriber)</a:t>
            </a:r>
          </a:p>
        </p:txBody>
      </p:sp>
      <p:sp>
        <p:nvSpPr>
          <p:cNvPr id="9" name="TextBox 8"/>
          <p:cNvSpPr txBox="1"/>
          <p:nvPr/>
        </p:nvSpPr>
        <p:spPr>
          <a:xfrm>
            <a:off x="685800" y="1984248"/>
            <a:ext cx="5102352" cy="2496311"/>
          </a:xfrm>
          <a:prstGeom prst="rect">
            <a:avLst/>
          </a:prstGeom>
          <a:noFill/>
        </p:spPr>
        <p:txBody>
          <a:bodyPr wrap="square" anchor="t" lIns="36576" rIns="36576" tIns="18288" bIns="18288">
            <a:spAutoFit/>
          </a:bodyPr>
          <a:lstStyle/>
          <a:p>
            <a:pPr algn="l"/>
            <a:r>
              <a:rPr sz="1150" b="1" i="0">
                <a:solidFill>
                  <a:srgbClr val="2B5B9E"/>
                </a:solidFill>
                <a:latin typeface="Arial"/>
              </a:rPr>
              <a:t>•  </a:t>
            </a:r>
            <a:r>
              <a:rPr sz="1150" b="0" i="0">
                <a:solidFill>
                  <a:srgbClr val="222A33"/>
                </a:solidFill>
                <a:latin typeface="Arial"/>
              </a:rPr>
              <a:t>Subscribe iot/airquality/#  (QoS 1)  qua TLS</a:t>
            </a:r>
          </a:p>
          <a:p>
            <a:pPr algn="l"/>
            <a:r>
              <a:rPr sz="1150" b="1" i="0">
                <a:solidFill>
                  <a:srgbClr val="2B5B9E"/>
                </a:solidFill>
                <a:latin typeface="Arial"/>
              </a:rPr>
              <a:t>•  </a:t>
            </a:r>
            <a:r>
              <a:rPr sz="1150" b="0" i="0">
                <a:solidFill>
                  <a:srgbClr val="222A33"/>
                </a:solidFill>
                <a:latin typeface="Arial"/>
              </a:rPr>
              <a:t>Parse JSON → kiểm tra api_key (sai/thiếu → loại bỏ)</a:t>
            </a:r>
          </a:p>
          <a:p>
            <a:pPr algn="l"/>
            <a:r>
              <a:rPr sz="1150" b="1" i="0">
                <a:solidFill>
                  <a:srgbClr val="2B5B9E"/>
                </a:solidFill>
                <a:latin typeface="Arial"/>
              </a:rPr>
              <a:t>•  </a:t>
            </a:r>
            <a:r>
              <a:rPr sz="1150" b="0" i="0">
                <a:solidFill>
                  <a:srgbClr val="222A33"/>
                </a:solidFill>
                <a:latin typeface="Arial"/>
              </a:rPr>
              <a:t>Lưu bản ghi vào MongoDB (collection SensorData)</a:t>
            </a:r>
          </a:p>
          <a:p>
            <a:pPr algn="l"/>
            <a:r>
              <a:rPr sz="1150" b="1" i="0">
                <a:solidFill>
                  <a:srgbClr val="2B5B9E"/>
                </a:solidFill>
                <a:latin typeface="Arial"/>
              </a:rPr>
              <a:t>•  </a:t>
            </a:r>
            <a:r>
              <a:rPr sz="1150" b="0" i="0">
                <a:solidFill>
                  <a:srgbClr val="222A33"/>
                </a:solidFill>
                <a:latin typeface="Arial"/>
              </a:rPr>
              <a:t>checkThresholds(): so ngưỡng trong Settings</a:t>
            </a:r>
          </a:p>
          <a:p>
            <a:pPr algn="l"/>
            <a:r>
              <a:rPr sz="1150" b="1" i="0">
                <a:solidFill>
                  <a:srgbClr val="2B5B9E"/>
                </a:solidFill>
                <a:latin typeface="Arial"/>
              </a:rPr>
              <a:t>•  </a:t>
            </a:r>
            <a:r>
              <a:rPr sz="1150" b="0" i="0">
                <a:solidFill>
                  <a:srgbClr val="222A33"/>
                </a:solidFill>
                <a:latin typeface="Arial"/>
              </a:rPr>
              <a:t>Sinh Alert khi vượt ngưỡng — cooldown 5' chống spam</a:t>
            </a:r>
          </a:p>
        </p:txBody>
      </p:sp>
      <p:sp>
        <p:nvSpPr>
          <p:cNvPr id="10" name="Rounded Rectangle 9"/>
          <p:cNvSpPr/>
          <p:nvPr/>
        </p:nvSpPr>
        <p:spPr>
          <a:xfrm>
            <a:off x="6236208" y="1325880"/>
            <a:ext cx="5468112" cy="3246120"/>
          </a:xfrm>
          <a:prstGeom prst="roundRect">
            <a:avLst>
              <a:gd name="adj" fmla="val 10000"/>
            </a:avLst>
          </a:prstGeom>
          <a:solidFill>
            <a:srgbClr val="D3E4F7"/>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36208" y="1325880"/>
            <a:ext cx="5468112"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REST API (Express)</a:t>
            </a:r>
          </a:p>
        </p:txBody>
      </p:sp>
      <p:sp>
        <p:nvSpPr>
          <p:cNvPr id="12" name="TextBox 11"/>
          <p:cNvSpPr txBox="1"/>
          <p:nvPr/>
        </p:nvSpPr>
        <p:spPr>
          <a:xfrm>
            <a:off x="6419088" y="1984248"/>
            <a:ext cx="5102352" cy="2496311"/>
          </a:xfrm>
          <a:prstGeom prst="rect">
            <a:avLst/>
          </a:prstGeom>
          <a:noFill/>
        </p:spPr>
        <p:txBody>
          <a:bodyPr wrap="square" anchor="t" lIns="36576" rIns="36576" tIns="18288" bIns="18288">
            <a:spAutoFit/>
          </a:bodyPr>
          <a:lstStyle/>
          <a:p>
            <a:pPr algn="l"/>
            <a:r>
              <a:rPr sz="1150" b="1" i="0">
                <a:solidFill>
                  <a:srgbClr val="0F2A54"/>
                </a:solidFill>
                <a:latin typeface="Arial"/>
              </a:rPr>
              <a:t>•  </a:t>
            </a:r>
            <a:r>
              <a:rPr sz="1150" b="0" i="0">
                <a:solidFill>
                  <a:srgbClr val="222A33"/>
                </a:solidFill>
                <a:latin typeface="Arial"/>
              </a:rPr>
              <a:t>/api/auth — login · register · refresh · logout</a:t>
            </a:r>
          </a:p>
          <a:p>
            <a:pPr algn="l"/>
            <a:r>
              <a:rPr sz="1150" b="1" i="0">
                <a:solidFill>
                  <a:srgbClr val="0F2A54"/>
                </a:solidFill>
                <a:latin typeface="Arial"/>
              </a:rPr>
              <a:t>•  </a:t>
            </a:r>
            <a:r>
              <a:rPr sz="1150" b="0" i="0">
                <a:solidFill>
                  <a:srgbClr val="222A33"/>
                </a:solidFill>
                <a:latin typeface="Arial"/>
              </a:rPr>
              <a:t>/api/sensor — data · latest · history · export CSV</a:t>
            </a:r>
          </a:p>
          <a:p>
            <a:pPr algn="l"/>
            <a:r>
              <a:rPr sz="1150" b="1" i="0">
                <a:solidFill>
                  <a:srgbClr val="0F2A54"/>
                </a:solidFill>
                <a:latin typeface="Arial"/>
              </a:rPr>
              <a:t>•  </a:t>
            </a:r>
            <a:r>
              <a:rPr sz="1150" b="0" i="0">
                <a:solidFill>
                  <a:srgbClr val="222A33"/>
                </a:solidFill>
                <a:latin typeface="Arial"/>
              </a:rPr>
              <a:t>/api/alerts — list · stats · weekly · resolve · bulk-delete</a:t>
            </a:r>
          </a:p>
          <a:p>
            <a:pPr algn="l"/>
            <a:r>
              <a:rPr sz="1150" b="1" i="0">
                <a:solidFill>
                  <a:srgbClr val="0F2A54"/>
                </a:solidFill>
                <a:latin typeface="Arial"/>
              </a:rPr>
              <a:t>•  </a:t>
            </a:r>
            <a:r>
              <a:rPr sz="1150" b="0" i="0">
                <a:solidFill>
                  <a:srgbClr val="222A33"/>
                </a:solidFill>
                <a:latin typeface="Arial"/>
              </a:rPr>
              <a:t>/api/settings — xem / sửa ngưỡng cảnh báo</a:t>
            </a:r>
          </a:p>
          <a:p>
            <a:pPr algn="l"/>
            <a:r>
              <a:rPr sz="1150" b="1" i="0">
                <a:solidFill>
                  <a:srgbClr val="0F2A54"/>
                </a:solidFill>
                <a:latin typeface="Arial"/>
              </a:rPr>
              <a:t>•  </a:t>
            </a:r>
            <a:r>
              <a:rPr sz="1150" b="0" i="0">
                <a:solidFill>
                  <a:srgbClr val="222A33"/>
                </a:solidFill>
                <a:latin typeface="Arial"/>
              </a:rPr>
              <a:t>Middleware JWT bảo vệ toàn bộ route dữ liệu</a:t>
            </a:r>
          </a:p>
        </p:txBody>
      </p:sp>
      <p:sp>
        <p:nvSpPr>
          <p:cNvPr id="13" name="Rounded Rectangle 12"/>
          <p:cNvSpPr/>
          <p:nvPr/>
        </p:nvSpPr>
        <p:spPr>
          <a:xfrm>
            <a:off x="502920" y="4754880"/>
            <a:ext cx="11201400" cy="1234440"/>
          </a:xfrm>
          <a:prstGeom prst="roundRect">
            <a:avLst>
              <a:gd name="adj" fmla="val 10000"/>
            </a:avLst>
          </a:prstGeom>
          <a:solidFill>
            <a:srgbClr val="F1F3F5"/>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4088" y="4846320"/>
            <a:ext cx="10835640" cy="1051560"/>
          </a:xfrm>
          <a:prstGeom prst="rect">
            <a:avLst/>
          </a:prstGeom>
          <a:noFill/>
        </p:spPr>
        <p:txBody>
          <a:bodyPr wrap="square" anchor="ctr" lIns="36576" rIns="36576" tIns="18288" bIns="18288">
            <a:spAutoFit/>
          </a:bodyPr>
          <a:lstStyle/>
          <a:p>
            <a:pPr algn="l"/>
            <a:r>
              <a:rPr sz="1150" b="1" i="0">
                <a:solidFill>
                  <a:srgbClr val="C4122D"/>
                </a:solidFill>
                <a:latin typeface="Arial"/>
              </a:rPr>
              <a:t>LƯU TRỮ &amp; BẢO MẬT</a:t>
            </a:r>
          </a:p>
          <a:p>
            <a:pPr algn="l"/>
            <a:r>
              <a:rPr sz="1150" b="0" i="0">
                <a:solidFill>
                  <a:srgbClr val="222A33"/>
                </a:solidFill>
                <a:latin typeface="Arial"/>
              </a:rPr>
              <a:t>MongoDB (Mongoose) — 4 collection: SensorData, Alert, Settings, User  ·  Mật khẩu băm bcrypt  ·  JWT access 15' + refresh 7 ngày (rotate)  ·  rate-limit tách nhóm auth chống brute-force  ·  header Cache-Control: no-store trên toàn bộ 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TRIỂN KHAI — FRONTEND (Vue 3)</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11</a:t>
            </a:r>
          </a:p>
        </p:txBody>
      </p:sp>
      <p:sp>
        <p:nvSpPr>
          <p:cNvPr id="7" name="TextBox 6"/>
          <p:cNvSpPr txBox="1"/>
          <p:nvPr/>
        </p:nvSpPr>
        <p:spPr>
          <a:xfrm>
            <a:off x="502920" y="1280160"/>
            <a:ext cx="10972800" cy="365760"/>
          </a:xfrm>
          <a:prstGeom prst="rect">
            <a:avLst/>
          </a:prstGeom>
          <a:noFill/>
        </p:spPr>
        <p:txBody>
          <a:bodyPr wrap="square" anchor="t" lIns="36576" rIns="36576" tIns="18288" bIns="18288">
            <a:spAutoFit/>
          </a:bodyPr>
          <a:lstStyle/>
          <a:p>
            <a:pPr algn="l"/>
            <a:r>
              <a:rPr sz="1300" b="1" i="0">
                <a:solidFill>
                  <a:srgbClr val="0F2A54"/>
                </a:solidFill>
                <a:latin typeface="Arial"/>
              </a:rPr>
              <a:t>5 TAB CHỨC NĂNG (Single Page App)</a:t>
            </a:r>
          </a:p>
        </p:txBody>
      </p:sp>
      <p:sp>
        <p:nvSpPr>
          <p:cNvPr id="8" name="Rounded Rectangle 7"/>
          <p:cNvSpPr/>
          <p:nvPr/>
        </p:nvSpPr>
        <p:spPr>
          <a:xfrm>
            <a:off x="502920" y="1691640"/>
            <a:ext cx="2103120" cy="15544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02920" y="1691640"/>
            <a:ext cx="2103120" cy="45720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Dashboard</a:t>
            </a:r>
          </a:p>
        </p:txBody>
      </p:sp>
      <p:sp>
        <p:nvSpPr>
          <p:cNvPr id="10" name="TextBox 9"/>
          <p:cNvSpPr txBox="1"/>
          <p:nvPr/>
        </p:nvSpPr>
        <p:spPr>
          <a:xfrm>
            <a:off x="630936" y="2240280"/>
            <a:ext cx="1847087" cy="914400"/>
          </a:xfrm>
          <a:prstGeom prst="rect">
            <a:avLst/>
          </a:prstGeom>
          <a:noFill/>
        </p:spPr>
        <p:txBody>
          <a:bodyPr wrap="square" anchor="t" lIns="36576" rIns="36576" tIns="18288" bIns="18288">
            <a:spAutoFit/>
          </a:bodyPr>
          <a:lstStyle/>
          <a:p>
            <a:pPr algn="l"/>
            <a:r>
              <a:rPr sz="1000" b="0" i="0">
                <a:solidFill>
                  <a:srgbClr val="222A33"/>
                </a:solidFill>
                <a:latin typeface="Arial"/>
              </a:rPr>
              <a:t>3 gauge + mini-chart + biểu đồ cảnh báo theo ngày</a:t>
            </a:r>
          </a:p>
        </p:txBody>
      </p:sp>
      <p:sp>
        <p:nvSpPr>
          <p:cNvPr id="11" name="Rounded Rectangle 10"/>
          <p:cNvSpPr/>
          <p:nvPr/>
        </p:nvSpPr>
        <p:spPr>
          <a:xfrm>
            <a:off x="2779776" y="1691640"/>
            <a:ext cx="2103120" cy="15544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779776" y="1691640"/>
            <a:ext cx="2103120" cy="45720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Lịch sử</a:t>
            </a:r>
          </a:p>
        </p:txBody>
      </p:sp>
      <p:sp>
        <p:nvSpPr>
          <p:cNvPr id="13" name="TextBox 12"/>
          <p:cNvSpPr txBox="1"/>
          <p:nvPr/>
        </p:nvSpPr>
        <p:spPr>
          <a:xfrm>
            <a:off x="2907792" y="2240280"/>
            <a:ext cx="1847087" cy="914400"/>
          </a:xfrm>
          <a:prstGeom prst="rect">
            <a:avLst/>
          </a:prstGeom>
          <a:noFill/>
        </p:spPr>
        <p:txBody>
          <a:bodyPr wrap="square" anchor="t" lIns="36576" rIns="36576" tIns="18288" bIns="18288">
            <a:spAutoFit/>
          </a:bodyPr>
          <a:lstStyle/>
          <a:p>
            <a:pPr algn="l"/>
            <a:r>
              <a:rPr sz="1000" b="0" i="0">
                <a:solidFill>
                  <a:srgbClr val="222A33"/>
                </a:solidFill>
                <a:latin typeface="Arial"/>
              </a:rPr>
              <a:t>Chọn khoảng thời gian, mini-chart, xuất CSV</a:t>
            </a:r>
          </a:p>
        </p:txBody>
      </p:sp>
      <p:sp>
        <p:nvSpPr>
          <p:cNvPr id="14" name="Rounded Rectangle 13"/>
          <p:cNvSpPr/>
          <p:nvPr/>
        </p:nvSpPr>
        <p:spPr>
          <a:xfrm>
            <a:off x="5056631" y="1691640"/>
            <a:ext cx="2103120" cy="15544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056631" y="1691640"/>
            <a:ext cx="2103120" cy="45720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Cảnh báo</a:t>
            </a:r>
          </a:p>
        </p:txBody>
      </p:sp>
      <p:sp>
        <p:nvSpPr>
          <p:cNvPr id="16" name="TextBox 15"/>
          <p:cNvSpPr txBox="1"/>
          <p:nvPr/>
        </p:nvSpPr>
        <p:spPr>
          <a:xfrm>
            <a:off x="5184647" y="2240280"/>
            <a:ext cx="1847087" cy="914400"/>
          </a:xfrm>
          <a:prstGeom prst="rect">
            <a:avLst/>
          </a:prstGeom>
          <a:noFill/>
        </p:spPr>
        <p:txBody>
          <a:bodyPr wrap="square" anchor="t" lIns="36576" rIns="36576" tIns="18288" bIns="18288">
            <a:spAutoFit/>
          </a:bodyPr>
          <a:lstStyle/>
          <a:p>
            <a:pPr algn="l"/>
            <a:r>
              <a:rPr sz="1000" b="0" i="0">
                <a:solidFill>
                  <a:srgbClr val="222A33"/>
                </a:solidFill>
                <a:latin typeface="Arial"/>
              </a:rPr>
              <a:t>Thống kê, lọc, xử lý / xóa hàng loạt</a:t>
            </a:r>
          </a:p>
        </p:txBody>
      </p:sp>
      <p:sp>
        <p:nvSpPr>
          <p:cNvPr id="17" name="Rounded Rectangle 16"/>
          <p:cNvSpPr/>
          <p:nvPr/>
        </p:nvSpPr>
        <p:spPr>
          <a:xfrm>
            <a:off x="7333488" y="1691640"/>
            <a:ext cx="2103120" cy="15544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7333488" y="1691640"/>
            <a:ext cx="2103120" cy="45720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Thiết bị</a:t>
            </a:r>
          </a:p>
        </p:txBody>
      </p:sp>
      <p:sp>
        <p:nvSpPr>
          <p:cNvPr id="19" name="TextBox 18"/>
          <p:cNvSpPr txBox="1"/>
          <p:nvPr/>
        </p:nvSpPr>
        <p:spPr>
          <a:xfrm>
            <a:off x="7461504" y="2240280"/>
            <a:ext cx="1847087" cy="914400"/>
          </a:xfrm>
          <a:prstGeom prst="rect">
            <a:avLst/>
          </a:prstGeom>
          <a:noFill/>
        </p:spPr>
        <p:txBody>
          <a:bodyPr wrap="square" anchor="t" lIns="36576" rIns="36576" tIns="18288" bIns="18288">
            <a:spAutoFit/>
          </a:bodyPr>
          <a:lstStyle/>
          <a:p>
            <a:pPr algn="l"/>
            <a:r>
              <a:rPr sz="1000" b="0" i="0">
                <a:solidFill>
                  <a:srgbClr val="222A33"/>
                </a:solidFill>
                <a:latin typeface="Arial"/>
              </a:rPr>
              <a:t>Thông tin kết nối: broker, topic, chu kỳ</a:t>
            </a:r>
          </a:p>
        </p:txBody>
      </p:sp>
      <p:sp>
        <p:nvSpPr>
          <p:cNvPr id="20" name="Rounded Rectangle 19"/>
          <p:cNvSpPr/>
          <p:nvPr/>
        </p:nvSpPr>
        <p:spPr>
          <a:xfrm>
            <a:off x="9610344" y="1691640"/>
            <a:ext cx="2103120" cy="15544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9610344" y="1691640"/>
            <a:ext cx="2103120" cy="45720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Cài đặt</a:t>
            </a:r>
          </a:p>
        </p:txBody>
      </p:sp>
      <p:sp>
        <p:nvSpPr>
          <p:cNvPr id="22" name="TextBox 21"/>
          <p:cNvSpPr txBox="1"/>
          <p:nvPr/>
        </p:nvSpPr>
        <p:spPr>
          <a:xfrm>
            <a:off x="9738360" y="2240280"/>
            <a:ext cx="1847087" cy="914400"/>
          </a:xfrm>
          <a:prstGeom prst="rect">
            <a:avLst/>
          </a:prstGeom>
          <a:noFill/>
        </p:spPr>
        <p:txBody>
          <a:bodyPr wrap="square" anchor="t" lIns="36576" rIns="36576" tIns="18288" bIns="18288">
            <a:spAutoFit/>
          </a:bodyPr>
          <a:lstStyle/>
          <a:p>
            <a:pPr algn="l"/>
            <a:r>
              <a:rPr sz="1000" b="0" i="0">
                <a:solidFill>
                  <a:srgbClr val="222A33"/>
                </a:solidFill>
                <a:latin typeface="Arial"/>
              </a:rPr>
              <a:t>Tùy chỉnh ngưỡng cảnh báo</a:t>
            </a:r>
          </a:p>
        </p:txBody>
      </p:sp>
      <p:sp>
        <p:nvSpPr>
          <p:cNvPr id="23" name="Rounded Rectangle 22"/>
          <p:cNvSpPr/>
          <p:nvPr/>
        </p:nvSpPr>
        <p:spPr>
          <a:xfrm>
            <a:off x="502920" y="3520440"/>
            <a:ext cx="5468112" cy="2377440"/>
          </a:xfrm>
          <a:prstGeom prst="roundRect">
            <a:avLst>
              <a:gd name="adj" fmla="val 10000"/>
            </a:avLst>
          </a:prstGeom>
          <a:solidFill>
            <a:srgbClr val="FBE7E6"/>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02920" y="3520440"/>
            <a:ext cx="5468112" cy="548640"/>
          </a:xfrm>
          <a:prstGeom prst="round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TRỰC QUAN HÓA &amp; REALTIME</a:t>
            </a:r>
          </a:p>
        </p:txBody>
      </p:sp>
      <p:sp>
        <p:nvSpPr>
          <p:cNvPr id="25" name="TextBox 24"/>
          <p:cNvSpPr txBox="1"/>
          <p:nvPr/>
        </p:nvSpPr>
        <p:spPr>
          <a:xfrm>
            <a:off x="685800" y="4178808"/>
            <a:ext cx="5102352" cy="1627632"/>
          </a:xfrm>
          <a:prstGeom prst="rect">
            <a:avLst/>
          </a:prstGeom>
          <a:noFill/>
        </p:spPr>
        <p:txBody>
          <a:bodyPr wrap="square" anchor="t" lIns="36576" rIns="36576" tIns="18288" bIns="18288">
            <a:spAutoFit/>
          </a:bodyPr>
          <a:lstStyle/>
          <a:p>
            <a:pPr algn="l"/>
            <a:r>
              <a:rPr sz="1100" b="1" i="0">
                <a:solidFill>
                  <a:srgbClr val="C4122D"/>
                </a:solidFill>
                <a:latin typeface="Arial"/>
              </a:rPr>
              <a:t>•  </a:t>
            </a:r>
            <a:r>
              <a:rPr sz="1100" b="0" i="0">
                <a:solidFill>
                  <a:srgbClr val="222A33"/>
                </a:solidFill>
                <a:latin typeface="Arial"/>
              </a:rPr>
              <a:t>Gauge đổi màu theo mức good / warning / critical</a:t>
            </a:r>
          </a:p>
          <a:p>
            <a:pPr algn="l"/>
            <a:r>
              <a:rPr sz="1100" b="1" i="0">
                <a:solidFill>
                  <a:srgbClr val="C4122D"/>
                </a:solidFill>
                <a:latin typeface="Arial"/>
              </a:rPr>
              <a:t>•  </a:t>
            </a:r>
            <a:r>
              <a:rPr sz="1100" b="0" i="0">
                <a:solidFill>
                  <a:srgbClr val="222A33"/>
                </a:solidFill>
                <a:latin typeface="Arial"/>
              </a:rPr>
              <a:t>Mini-chart riêng trục cho từng đại lượng (Chart.js)</a:t>
            </a:r>
          </a:p>
          <a:p>
            <a:pPr algn="l"/>
            <a:r>
              <a:rPr sz="1100" b="1" i="0">
                <a:solidFill>
                  <a:srgbClr val="C4122D"/>
                </a:solidFill>
                <a:latin typeface="Arial"/>
              </a:rPr>
              <a:t>•  </a:t>
            </a:r>
            <a:r>
              <a:rPr sz="1100" b="0" i="0">
                <a:solidFill>
                  <a:srgbClr val="222A33"/>
                </a:solidFill>
                <a:latin typeface="Arial"/>
              </a:rPr>
              <a:t>Poll dữ liệu mỗi 5s + tự làm mới khi focus lại tab</a:t>
            </a:r>
          </a:p>
          <a:p>
            <a:pPr algn="l"/>
            <a:r>
              <a:rPr sz="1100" b="1" i="0">
                <a:solidFill>
                  <a:srgbClr val="C4122D"/>
                </a:solidFill>
                <a:latin typeface="Arial"/>
              </a:rPr>
              <a:t>•  </a:t>
            </a:r>
            <a:r>
              <a:rPr sz="1100" b="0" i="0">
                <a:solidFill>
                  <a:srgbClr val="222A33"/>
                </a:solidFill>
                <a:latin typeface="Arial"/>
              </a:rPr>
              <a:t>Badge số cảnh báo ở sidebar cập nhật real-time</a:t>
            </a:r>
          </a:p>
        </p:txBody>
      </p:sp>
      <p:sp>
        <p:nvSpPr>
          <p:cNvPr id="26" name="Rounded Rectangle 25"/>
          <p:cNvSpPr/>
          <p:nvPr/>
        </p:nvSpPr>
        <p:spPr>
          <a:xfrm>
            <a:off x="6236208" y="3520440"/>
            <a:ext cx="5468112" cy="237744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236208" y="3520440"/>
            <a:ext cx="5468112"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BẢO MẬT PHÍA CLIENT</a:t>
            </a:r>
          </a:p>
        </p:txBody>
      </p:sp>
      <p:sp>
        <p:nvSpPr>
          <p:cNvPr id="28" name="TextBox 27"/>
          <p:cNvSpPr txBox="1"/>
          <p:nvPr/>
        </p:nvSpPr>
        <p:spPr>
          <a:xfrm>
            <a:off x="6419088" y="4178808"/>
            <a:ext cx="5102352" cy="1627632"/>
          </a:xfrm>
          <a:prstGeom prst="rect">
            <a:avLst/>
          </a:prstGeom>
          <a:noFill/>
        </p:spPr>
        <p:txBody>
          <a:bodyPr wrap="square" anchor="t" lIns="36576" rIns="36576" tIns="18288" bIns="18288">
            <a:spAutoFit/>
          </a:bodyPr>
          <a:lstStyle/>
          <a:p>
            <a:pPr algn="l"/>
            <a:r>
              <a:rPr sz="1100" b="1" i="0">
                <a:solidFill>
                  <a:srgbClr val="0F2A54"/>
                </a:solidFill>
                <a:latin typeface="Arial"/>
              </a:rPr>
              <a:t>•  </a:t>
            </a:r>
            <a:r>
              <a:rPr sz="1100" b="0" i="0">
                <a:solidFill>
                  <a:srgbClr val="222A33"/>
                </a:solidFill>
                <a:latin typeface="Arial"/>
              </a:rPr>
              <a:t>Route guard: chặn vào /dashboard khi chưa đăng nhập</a:t>
            </a:r>
          </a:p>
          <a:p>
            <a:pPr algn="l"/>
            <a:r>
              <a:rPr sz="1100" b="1" i="0">
                <a:solidFill>
                  <a:srgbClr val="0F2A54"/>
                </a:solidFill>
                <a:latin typeface="Arial"/>
              </a:rPr>
              <a:t>•  </a:t>
            </a:r>
            <a:r>
              <a:rPr sz="1100" b="0" i="0">
                <a:solidFill>
                  <a:srgbClr val="222A33"/>
                </a:solidFill>
                <a:latin typeface="Arial"/>
              </a:rPr>
              <a:t>Axios interceptor: tự gắn token + tự refresh khi hết hạn</a:t>
            </a:r>
          </a:p>
          <a:p>
            <a:pPr algn="l"/>
            <a:r>
              <a:rPr sz="1100" b="1" i="0">
                <a:solidFill>
                  <a:srgbClr val="0F2A54"/>
                </a:solidFill>
                <a:latin typeface="Arial"/>
              </a:rPr>
              <a:t>•  </a:t>
            </a:r>
            <a:r>
              <a:rPr sz="1100" b="0" i="0">
                <a:solidFill>
                  <a:srgbClr val="222A33"/>
                </a:solidFill>
                <a:latin typeface="Arial"/>
              </a:rPr>
              <a:t>Tự đăng xuất sau 1 giờ không thao tác (idle timeout)</a:t>
            </a:r>
          </a:p>
          <a:p>
            <a:pPr algn="l"/>
            <a:r>
              <a:rPr sz="1100" b="1" i="0">
                <a:solidFill>
                  <a:srgbClr val="0F2A54"/>
                </a:solidFill>
                <a:latin typeface="Arial"/>
              </a:rPr>
              <a:t>•  </a:t>
            </a:r>
            <a:r>
              <a:rPr sz="1100" b="0" i="0">
                <a:solidFill>
                  <a:srgbClr val="222A33"/>
                </a:solidFill>
                <a:latin typeface="Arial"/>
              </a:rPr>
              <a:t>Chỉ xóa phiên khi refresh token thật sự không hợp lệ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SƠ ĐỒ LUỒNG DỮ LIỆU</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12</a:t>
            </a:r>
          </a:p>
        </p:txBody>
      </p:sp>
      <p:sp>
        <p:nvSpPr>
          <p:cNvPr id="7" name="Rounded Rectangle 6"/>
          <p:cNvSpPr/>
          <p:nvPr/>
        </p:nvSpPr>
        <p:spPr>
          <a:xfrm>
            <a:off x="502920" y="2331720"/>
            <a:ext cx="2148840" cy="123444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F2A54"/>
                </a:solidFill>
                <a:latin typeface="Arial"/>
              </a:rPr>
              <a:t>ESP32</a:t>
            </a:r>
          </a:p>
          <a:p>
            <a:pPr algn="ctr"/>
            <a:r>
              <a:rPr sz="1000" b="0" i="0">
                <a:solidFill>
                  <a:srgbClr val="5B6672"/>
                </a:solidFill>
                <a:latin typeface="Arial"/>
              </a:rPr>
              <a:t>DHT22 + biến trở CO₂
Đo mỗi 5 giây</a:t>
            </a:r>
          </a:p>
        </p:txBody>
      </p:sp>
      <p:sp>
        <p:nvSpPr>
          <p:cNvPr id="8" name="Oval 7"/>
          <p:cNvSpPr/>
          <p:nvPr/>
        </p:nvSpPr>
        <p:spPr>
          <a:xfrm>
            <a:off x="384048" y="2212848"/>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1</a:t>
            </a:r>
          </a:p>
        </p:txBody>
      </p:sp>
      <p:sp>
        <p:nvSpPr>
          <p:cNvPr id="9" name="Rounded Rectangle 8"/>
          <p:cNvSpPr/>
          <p:nvPr/>
        </p:nvSpPr>
        <p:spPr>
          <a:xfrm>
            <a:off x="3246120" y="2331720"/>
            <a:ext cx="2148840" cy="1234440"/>
          </a:xfrm>
          <a:prstGeom prst="roundRect">
            <a:avLst>
              <a:gd name="adj" fmla="val 10000"/>
            </a:avLst>
          </a:prstGeom>
          <a:solidFill>
            <a:srgbClr val="D3E4F7"/>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F2A54"/>
                </a:solidFill>
                <a:latin typeface="Arial"/>
              </a:rPr>
              <a:t>HiveMQ Cloud</a:t>
            </a:r>
          </a:p>
          <a:p>
            <a:pPr algn="ctr"/>
            <a:r>
              <a:rPr sz="1000" b="0" i="0">
                <a:solidFill>
                  <a:srgbClr val="5B6672"/>
                </a:solidFill>
                <a:latin typeface="Arial"/>
              </a:rPr>
              <a:t>MQTT Broker
Trung gian pub/sub</a:t>
            </a:r>
          </a:p>
        </p:txBody>
      </p:sp>
      <p:sp>
        <p:nvSpPr>
          <p:cNvPr id="10" name="Oval 9"/>
          <p:cNvSpPr/>
          <p:nvPr/>
        </p:nvSpPr>
        <p:spPr>
          <a:xfrm>
            <a:off x="3127248" y="2212848"/>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2</a:t>
            </a:r>
          </a:p>
        </p:txBody>
      </p:sp>
      <p:sp>
        <p:nvSpPr>
          <p:cNvPr id="11" name="Rounded Rectangle 10"/>
          <p:cNvSpPr/>
          <p:nvPr/>
        </p:nvSpPr>
        <p:spPr>
          <a:xfrm>
            <a:off x="5989320" y="2331720"/>
            <a:ext cx="2148840" cy="123444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F2A54"/>
                </a:solidFill>
                <a:latin typeface="Arial"/>
              </a:rPr>
              <a:t>Backend</a:t>
            </a:r>
          </a:p>
          <a:p>
            <a:pPr algn="ctr"/>
            <a:r>
              <a:rPr sz="1000" b="0" i="0">
                <a:solidFill>
                  <a:srgbClr val="5B6672"/>
                </a:solidFill>
                <a:latin typeface="Arial"/>
              </a:rPr>
              <a:t>Node.js / Express
Xác thực • Lưu • Cảnh báo</a:t>
            </a:r>
          </a:p>
        </p:txBody>
      </p:sp>
      <p:sp>
        <p:nvSpPr>
          <p:cNvPr id="12" name="Oval 11"/>
          <p:cNvSpPr/>
          <p:nvPr/>
        </p:nvSpPr>
        <p:spPr>
          <a:xfrm>
            <a:off x="5870448" y="2212848"/>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3</a:t>
            </a:r>
          </a:p>
        </p:txBody>
      </p:sp>
      <p:sp>
        <p:nvSpPr>
          <p:cNvPr id="13" name="Rounded Rectangle 12"/>
          <p:cNvSpPr/>
          <p:nvPr/>
        </p:nvSpPr>
        <p:spPr>
          <a:xfrm>
            <a:off x="8732520" y="2331720"/>
            <a:ext cx="2148840" cy="1234440"/>
          </a:xfrm>
          <a:prstGeom prst="roundRect">
            <a:avLst>
              <a:gd name="adj" fmla="val 10000"/>
            </a:avLst>
          </a:prstGeom>
          <a:solidFill>
            <a:srgbClr val="D3E4F7"/>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F2A54"/>
                </a:solidFill>
                <a:latin typeface="Arial"/>
              </a:rPr>
              <a:t>MongoDB</a:t>
            </a:r>
          </a:p>
          <a:p>
            <a:pPr algn="ctr"/>
            <a:r>
              <a:rPr sz="1000" b="0" i="0">
                <a:solidFill>
                  <a:srgbClr val="5B6672"/>
                </a:solidFill>
                <a:latin typeface="Arial"/>
              </a:rPr>
              <a:t>Lưu SensorData
&amp; Alert</a:t>
            </a:r>
          </a:p>
        </p:txBody>
      </p:sp>
      <p:sp>
        <p:nvSpPr>
          <p:cNvPr id="14" name="Oval 13"/>
          <p:cNvSpPr/>
          <p:nvPr/>
        </p:nvSpPr>
        <p:spPr>
          <a:xfrm>
            <a:off x="8613648" y="2212848"/>
            <a:ext cx="384048" cy="384048"/>
          </a:xfrm>
          <a:prstGeom prst="ellipse">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4</a:t>
            </a:r>
          </a:p>
        </p:txBody>
      </p:sp>
      <p:sp>
        <p:nvSpPr>
          <p:cNvPr id="15" name="Right Arrow 14"/>
          <p:cNvSpPr/>
          <p:nvPr/>
        </p:nvSpPr>
        <p:spPr>
          <a:xfrm>
            <a:off x="2706624" y="2802635"/>
            <a:ext cx="475488" cy="310896"/>
          </a:xfrm>
          <a:prstGeom prst="rightArrow">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9464" y="1828799"/>
            <a:ext cx="822960" cy="457200"/>
          </a:xfrm>
          <a:prstGeom prst="rect">
            <a:avLst/>
          </a:prstGeom>
          <a:noFill/>
        </p:spPr>
        <p:txBody>
          <a:bodyPr wrap="square" anchor="t" lIns="36576" rIns="36576" tIns="18288" bIns="18288">
            <a:spAutoFit/>
          </a:bodyPr>
          <a:lstStyle/>
          <a:p>
            <a:pPr algn="ctr"/>
            <a:r>
              <a:rPr sz="850" b="1" i="0">
                <a:solidFill>
                  <a:srgbClr val="C4122D"/>
                </a:solidFill>
                <a:latin typeface="Arial"/>
              </a:rPr>
              <a:t>publish
MQTT/TLS :8883</a:t>
            </a:r>
          </a:p>
        </p:txBody>
      </p:sp>
      <p:sp>
        <p:nvSpPr>
          <p:cNvPr id="17" name="Right Arrow 16"/>
          <p:cNvSpPr/>
          <p:nvPr/>
        </p:nvSpPr>
        <p:spPr>
          <a:xfrm>
            <a:off x="5449824" y="2802635"/>
            <a:ext cx="475488" cy="310896"/>
          </a:xfrm>
          <a:prstGeom prst="rightArrow">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12664" y="1828799"/>
            <a:ext cx="822960" cy="457200"/>
          </a:xfrm>
          <a:prstGeom prst="rect">
            <a:avLst/>
          </a:prstGeom>
          <a:noFill/>
        </p:spPr>
        <p:txBody>
          <a:bodyPr wrap="square" anchor="t" lIns="36576" rIns="36576" tIns="18288" bIns="18288">
            <a:spAutoFit/>
          </a:bodyPr>
          <a:lstStyle/>
          <a:p>
            <a:pPr algn="ctr"/>
            <a:r>
              <a:rPr sz="850" b="1" i="0">
                <a:solidFill>
                  <a:srgbClr val="C4122D"/>
                </a:solidFill>
                <a:latin typeface="Arial"/>
              </a:rPr>
              <a:t>subscribe
QoS 1</a:t>
            </a:r>
          </a:p>
        </p:txBody>
      </p:sp>
      <p:sp>
        <p:nvSpPr>
          <p:cNvPr id="19" name="Right Arrow 18"/>
          <p:cNvSpPr/>
          <p:nvPr/>
        </p:nvSpPr>
        <p:spPr>
          <a:xfrm>
            <a:off x="8193024" y="2802635"/>
            <a:ext cx="475488" cy="310896"/>
          </a:xfrm>
          <a:prstGeom prst="rightArrow">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55864" y="1828799"/>
            <a:ext cx="822960" cy="457200"/>
          </a:xfrm>
          <a:prstGeom prst="rect">
            <a:avLst/>
          </a:prstGeom>
          <a:noFill/>
        </p:spPr>
        <p:txBody>
          <a:bodyPr wrap="square" anchor="t" lIns="36576" rIns="36576" tIns="18288" bIns="18288">
            <a:spAutoFit/>
          </a:bodyPr>
          <a:lstStyle/>
          <a:p>
            <a:pPr algn="ctr"/>
            <a:r>
              <a:rPr sz="850" b="1" i="0">
                <a:solidFill>
                  <a:srgbClr val="C4122D"/>
                </a:solidFill>
                <a:latin typeface="Arial"/>
              </a:rPr>
              <a:t>lưu DB</a:t>
            </a:r>
          </a:p>
        </p:txBody>
      </p:sp>
      <p:sp>
        <p:nvSpPr>
          <p:cNvPr id="21" name="Rounded Rectangle 20"/>
          <p:cNvSpPr/>
          <p:nvPr/>
        </p:nvSpPr>
        <p:spPr>
          <a:xfrm>
            <a:off x="502920" y="3977639"/>
            <a:ext cx="3794760" cy="1051560"/>
          </a:xfrm>
          <a:prstGeom prst="roundRect">
            <a:avLst>
              <a:gd name="adj" fmla="val 10000"/>
            </a:avLst>
          </a:prstGeom>
          <a:solidFill>
            <a:srgbClr val="F1F3F5"/>
          </a:solidFill>
          <a:ln w="12700">
            <a:solidFill>
              <a:srgbClr val="5B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i="0">
                <a:solidFill>
                  <a:srgbClr val="0F2A54"/>
                </a:solidFill>
                <a:latin typeface="Arial"/>
              </a:rPr>
              <a:t>Gói tin JSON gửi lên:</a:t>
            </a:r>
          </a:p>
          <a:p>
            <a:pPr algn="l"/>
            <a:r>
              <a:rPr sz="1000" b="0" i="0">
                <a:solidFill>
                  <a:srgbClr val="222A33"/>
                </a:solidFill>
                <a:latin typeface="Arial"/>
              </a:rPr>
              <a:t>{ device_id, api_key, temperature,</a:t>
            </a:r>
          </a:p>
          <a:p>
            <a:pPr algn="l"/>
            <a:r>
              <a:rPr sz="1000" b="0" i="0">
                <a:solidFill>
                  <a:srgbClr val="222A33"/>
                </a:solidFill>
                <a:latin typeface="Arial"/>
              </a:rPr>
              <a:t>  humidity, co2 }</a:t>
            </a:r>
          </a:p>
        </p:txBody>
      </p:sp>
      <p:sp>
        <p:nvSpPr>
          <p:cNvPr id="22" name="Rounded Rectangle 21"/>
          <p:cNvSpPr/>
          <p:nvPr/>
        </p:nvSpPr>
        <p:spPr>
          <a:xfrm>
            <a:off x="8732520" y="4160520"/>
            <a:ext cx="2148840" cy="1097280"/>
          </a:xfrm>
          <a:prstGeom prst="roundRect">
            <a:avLst>
              <a:gd name="adj" fmla="val 10000"/>
            </a:avLst>
          </a:prstGeom>
          <a:solidFill>
            <a:srgbClr val="D3E4F7"/>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0F2A54"/>
                </a:solidFill>
                <a:latin typeface="Arial"/>
              </a:rPr>
              <a:t>5  Dashboard</a:t>
            </a:r>
          </a:p>
          <a:p>
            <a:pPr algn="ctr"/>
            <a:r>
              <a:rPr sz="1000" b="0" i="0">
                <a:solidFill>
                  <a:srgbClr val="5B6672"/>
                </a:solidFill>
                <a:latin typeface="Arial"/>
              </a:rPr>
              <a:t>Vue 3 — gauge, biểu đồ</a:t>
            </a:r>
          </a:p>
        </p:txBody>
      </p:sp>
      <p:sp>
        <p:nvSpPr>
          <p:cNvPr id="23" name="Down Arrow 22"/>
          <p:cNvSpPr/>
          <p:nvPr/>
        </p:nvSpPr>
        <p:spPr>
          <a:xfrm>
            <a:off x="9464040" y="3611880"/>
            <a:ext cx="685800" cy="457200"/>
          </a:xfrm>
          <a:prstGeom prst="down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4343400"/>
            <a:ext cx="2560320" cy="731520"/>
          </a:xfrm>
          <a:prstGeom prst="rect">
            <a:avLst/>
          </a:prstGeom>
          <a:noFill/>
        </p:spPr>
        <p:txBody>
          <a:bodyPr wrap="square" anchor="t" lIns="36576" rIns="36576" tIns="18288" bIns="18288">
            <a:spAutoFit/>
          </a:bodyPr>
          <a:lstStyle/>
          <a:p>
            <a:pPr algn="l"/>
            <a:r>
              <a:rPr sz="1000" b="1" i="0">
                <a:solidFill>
                  <a:srgbClr val="0F2A54"/>
                </a:solidFill>
                <a:latin typeface="Arial"/>
              </a:rPr>
              <a:t>REST API + JWT</a:t>
            </a:r>
          </a:p>
          <a:p>
            <a:pPr algn="l"/>
            <a:r>
              <a:rPr sz="950" b="0" i="0">
                <a:solidFill>
                  <a:srgbClr val="5B6672"/>
                </a:solidFill>
                <a:latin typeface="Arial"/>
              </a:rPr>
              <a:t>Dashboard poll mỗi 5s</a:t>
            </a:r>
          </a:p>
          <a:p>
            <a:pPr algn="l"/>
            <a:r>
              <a:rPr sz="900" b="0" i="1">
                <a:solidFill>
                  <a:srgbClr val="5B6672"/>
                </a:solidFill>
                <a:latin typeface="Arial"/>
              </a:rPr>
              <a:t>(header no-store)</a:t>
            </a:r>
          </a:p>
        </p:txBody>
      </p:sp>
      <p:sp>
        <p:nvSpPr>
          <p:cNvPr id="25" name="Left-Right Arrow 24"/>
          <p:cNvSpPr/>
          <p:nvPr/>
        </p:nvSpPr>
        <p:spPr>
          <a:xfrm>
            <a:off x="7315200" y="4617720"/>
            <a:ext cx="1325880" cy="310896"/>
          </a:xfrm>
          <a:prstGeom prst="leftRight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2920" y="5532120"/>
            <a:ext cx="10378440" cy="658368"/>
          </a:xfrm>
          <a:prstGeom prst="roundRect">
            <a:avLst>
              <a:gd name="adj" fmla="val 25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Luồng end-to-end:  </a:t>
            </a:r>
            <a:r>
              <a:rPr sz="1200" b="0" i="0">
                <a:solidFill>
                  <a:srgbClr val="DCE6F5"/>
                </a:solidFill>
                <a:latin typeface="Arial"/>
              </a:rPr>
              <a:t>Cảm biến → MQTT/TLS → Broker → Backend (xác thực api_key) → MongoDB → REST/JWT →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CƠ CHẾ CẢNH BÁO</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12</a:t>
            </a:r>
          </a:p>
        </p:txBody>
      </p:sp>
      <p:sp>
        <p:nvSpPr>
          <p:cNvPr id="7" name="Rounded Rectangle 6"/>
          <p:cNvSpPr/>
          <p:nvPr/>
        </p:nvSpPr>
        <p:spPr>
          <a:xfrm>
            <a:off x="2194560" y="1325880"/>
            <a:ext cx="3931920" cy="6400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0F2A54"/>
                </a:solidFill>
                <a:latin typeface="Arial"/>
              </a:rPr>
              <a:t>Backend nhận dữ liệu cảm biến (mỗi 5s)</a:t>
            </a:r>
          </a:p>
        </p:txBody>
      </p:sp>
      <p:sp>
        <p:nvSpPr>
          <p:cNvPr id="8" name="Down Arrow 7"/>
          <p:cNvSpPr/>
          <p:nvPr/>
        </p:nvSpPr>
        <p:spPr>
          <a:xfrm>
            <a:off x="3931920" y="1993392"/>
            <a:ext cx="457200" cy="384048"/>
          </a:xfrm>
          <a:prstGeom prst="down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1874519" y="2395728"/>
            <a:ext cx="4572000" cy="1280160"/>
          </a:xfrm>
          <a:prstGeom prst="diamond">
            <a:avLst/>
          </a:prstGeom>
          <a:solidFill>
            <a:srgbClr val="FDF3DE"/>
          </a:solidFill>
          <a:ln w="19050">
            <a:solidFill>
              <a:srgbClr val="E89A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22A33"/>
                </a:solidFill>
                <a:latin typeface="Arial"/>
              </a:rPr>
              <a:t>Giá trị VƯỢT NGƯỠNG?</a:t>
            </a:r>
          </a:p>
          <a:p>
            <a:pPr algn="ctr"/>
            <a:r>
              <a:rPr sz="950" b="0" i="0">
                <a:solidFill>
                  <a:srgbClr val="5B6672"/>
                </a:solidFill>
                <a:latin typeface="Arial"/>
              </a:rPr>
              <a:t>CO₂ ≥ 800/1000ppm · Nhiệt ≥ 35°C</a:t>
            </a:r>
          </a:p>
          <a:p>
            <a:pPr algn="ctr"/>
            <a:r>
              <a:rPr sz="950" b="0" i="0">
                <a:solidFill>
                  <a:srgbClr val="5B6672"/>
                </a:solidFill>
                <a:latin typeface="Arial"/>
              </a:rPr>
              <a:t>Độ ẩm &lt; 30% hoặc &gt; 70%</a:t>
            </a:r>
          </a:p>
        </p:txBody>
      </p:sp>
      <p:sp>
        <p:nvSpPr>
          <p:cNvPr id="10" name="TextBox 9"/>
          <p:cNvSpPr txBox="1"/>
          <p:nvPr/>
        </p:nvSpPr>
        <p:spPr>
          <a:xfrm>
            <a:off x="6492240" y="2788920"/>
            <a:ext cx="731520" cy="274320"/>
          </a:xfrm>
          <a:prstGeom prst="rect">
            <a:avLst/>
          </a:prstGeom>
          <a:noFill/>
        </p:spPr>
        <p:txBody>
          <a:bodyPr wrap="square" anchor="t" lIns="36576" rIns="36576" tIns="18288" bIns="18288">
            <a:spAutoFit/>
          </a:bodyPr>
          <a:lstStyle/>
          <a:p>
            <a:pPr algn="l"/>
            <a:r>
              <a:rPr sz="1000" b="1" i="0">
                <a:solidFill>
                  <a:srgbClr val="1E9E4F"/>
                </a:solidFill>
                <a:latin typeface="Arial"/>
              </a:rPr>
              <a:t>Không</a:t>
            </a:r>
          </a:p>
        </p:txBody>
      </p:sp>
      <p:sp>
        <p:nvSpPr>
          <p:cNvPr id="11" name="Right Arrow 10"/>
          <p:cNvSpPr/>
          <p:nvPr/>
        </p:nvSpPr>
        <p:spPr>
          <a:xfrm>
            <a:off x="6446520" y="2880360"/>
            <a:ext cx="457200" cy="310896"/>
          </a:xfrm>
          <a:prstGeom prst="rightArrow">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49440" y="2697480"/>
            <a:ext cx="2148840" cy="713232"/>
          </a:xfrm>
          <a:prstGeom prst="roundRect">
            <a:avLst>
              <a:gd name="adj" fmla="val 10000"/>
            </a:avLst>
          </a:prstGeom>
          <a:solidFill>
            <a:srgbClr val="E4F5EA"/>
          </a:solidFill>
          <a:ln w="16510">
            <a:solidFill>
              <a:srgbClr val="1E9E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E9E4F"/>
                </a:solidFill>
                <a:latin typeface="Arial"/>
              </a:rPr>
              <a:t>Bỏ qua</a:t>
            </a:r>
          </a:p>
          <a:p>
            <a:pPr algn="ctr"/>
            <a:r>
              <a:rPr sz="950" b="0" i="0">
                <a:solidFill>
                  <a:srgbClr val="5B6672"/>
                </a:solidFill>
                <a:latin typeface="Arial"/>
              </a:rPr>
              <a:t>Không tạo cảnh báo</a:t>
            </a:r>
          </a:p>
        </p:txBody>
      </p:sp>
      <p:sp>
        <p:nvSpPr>
          <p:cNvPr id="13" name="TextBox 12"/>
          <p:cNvSpPr txBox="1"/>
          <p:nvPr/>
        </p:nvSpPr>
        <p:spPr>
          <a:xfrm>
            <a:off x="4069080" y="3675887"/>
            <a:ext cx="1097280" cy="274320"/>
          </a:xfrm>
          <a:prstGeom prst="rect">
            <a:avLst/>
          </a:prstGeom>
          <a:noFill/>
        </p:spPr>
        <p:txBody>
          <a:bodyPr wrap="square" anchor="t" lIns="36576" rIns="36576" tIns="18288" bIns="18288">
            <a:spAutoFit/>
          </a:bodyPr>
          <a:lstStyle/>
          <a:p>
            <a:pPr algn="l"/>
            <a:r>
              <a:rPr sz="1000" b="1" i="0">
                <a:solidFill>
                  <a:srgbClr val="D1372E"/>
                </a:solidFill>
                <a:latin typeface="Arial"/>
              </a:rPr>
              <a:t>Có</a:t>
            </a:r>
          </a:p>
        </p:txBody>
      </p:sp>
      <p:sp>
        <p:nvSpPr>
          <p:cNvPr id="14" name="Down Arrow 13"/>
          <p:cNvSpPr/>
          <p:nvPr/>
        </p:nvSpPr>
        <p:spPr>
          <a:xfrm>
            <a:off x="3931920" y="3703320"/>
            <a:ext cx="457200" cy="384048"/>
          </a:xfrm>
          <a:prstGeom prst="down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1874519" y="4114800"/>
            <a:ext cx="4572000" cy="1280160"/>
          </a:xfrm>
          <a:prstGeom prst="diamond">
            <a:avLst/>
          </a:prstGeom>
          <a:solidFill>
            <a:srgbClr val="FDF3DE"/>
          </a:solidFill>
          <a:ln w="19050">
            <a:solidFill>
              <a:srgbClr val="E89A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i="0">
                <a:solidFill>
                  <a:srgbClr val="222A33"/>
                </a:solidFill>
                <a:latin typeface="Arial"/>
              </a:rPr>
              <a:t>Đã có cảnh báo CÙNG LOẠI</a:t>
            </a:r>
          </a:p>
          <a:p>
            <a:pPr algn="ctr"/>
            <a:r>
              <a:rPr sz="1150" b="1" i="0">
                <a:solidFill>
                  <a:srgbClr val="222A33"/>
                </a:solidFill>
                <a:latin typeface="Arial"/>
              </a:rPr>
              <a:t>trong 5 phút gần nhất?</a:t>
            </a:r>
          </a:p>
          <a:p>
            <a:pPr algn="ctr"/>
            <a:r>
              <a:rPr sz="950" b="0" i="1">
                <a:solidFill>
                  <a:srgbClr val="5B6672"/>
                </a:solidFill>
                <a:latin typeface="Arial"/>
              </a:rPr>
              <a:t>(cooldown chống spam)</a:t>
            </a:r>
          </a:p>
        </p:txBody>
      </p:sp>
      <p:sp>
        <p:nvSpPr>
          <p:cNvPr id="16" name="TextBox 15"/>
          <p:cNvSpPr txBox="1"/>
          <p:nvPr/>
        </p:nvSpPr>
        <p:spPr>
          <a:xfrm>
            <a:off x="6492240" y="4526280"/>
            <a:ext cx="731520" cy="274320"/>
          </a:xfrm>
          <a:prstGeom prst="rect">
            <a:avLst/>
          </a:prstGeom>
          <a:noFill/>
        </p:spPr>
        <p:txBody>
          <a:bodyPr wrap="square" anchor="t" lIns="36576" rIns="36576" tIns="18288" bIns="18288">
            <a:spAutoFit/>
          </a:bodyPr>
          <a:lstStyle/>
          <a:p>
            <a:pPr algn="l"/>
            <a:r>
              <a:rPr sz="1000" b="1" i="0">
                <a:solidFill>
                  <a:srgbClr val="E89A11"/>
                </a:solidFill>
                <a:latin typeface="Arial"/>
              </a:rPr>
              <a:t>Có</a:t>
            </a:r>
          </a:p>
        </p:txBody>
      </p:sp>
      <p:sp>
        <p:nvSpPr>
          <p:cNvPr id="17" name="Right Arrow 16"/>
          <p:cNvSpPr/>
          <p:nvPr/>
        </p:nvSpPr>
        <p:spPr>
          <a:xfrm>
            <a:off x="6446520" y="4617720"/>
            <a:ext cx="457200" cy="310896"/>
          </a:xfrm>
          <a:prstGeom prst="rightArrow">
            <a:avLst/>
          </a:prstGeom>
          <a:solidFill>
            <a:srgbClr val="E89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9440" y="4434840"/>
            <a:ext cx="2148840" cy="713232"/>
          </a:xfrm>
          <a:prstGeom prst="roundRect">
            <a:avLst>
              <a:gd name="adj" fmla="val 10000"/>
            </a:avLst>
          </a:prstGeom>
          <a:solidFill>
            <a:srgbClr val="FDF3DE"/>
          </a:solidFill>
          <a:ln w="16510">
            <a:solidFill>
              <a:srgbClr val="E89A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E89A11"/>
                </a:solidFill>
                <a:latin typeface="Arial"/>
              </a:rPr>
              <a:t>Bỏ qua</a:t>
            </a:r>
          </a:p>
          <a:p>
            <a:pPr algn="ctr"/>
            <a:r>
              <a:rPr sz="950" b="0" i="0">
                <a:solidFill>
                  <a:srgbClr val="5B6672"/>
                </a:solidFill>
                <a:latin typeface="Arial"/>
              </a:rPr>
              <a:t>Tránh trùng lặp</a:t>
            </a:r>
          </a:p>
        </p:txBody>
      </p:sp>
      <p:sp>
        <p:nvSpPr>
          <p:cNvPr id="19" name="TextBox 18"/>
          <p:cNvSpPr txBox="1"/>
          <p:nvPr/>
        </p:nvSpPr>
        <p:spPr>
          <a:xfrm>
            <a:off x="4480560" y="5413248"/>
            <a:ext cx="1097280" cy="274320"/>
          </a:xfrm>
          <a:prstGeom prst="rect">
            <a:avLst/>
          </a:prstGeom>
          <a:noFill/>
        </p:spPr>
        <p:txBody>
          <a:bodyPr wrap="square" anchor="t" lIns="36576" rIns="36576" tIns="18288" bIns="18288">
            <a:spAutoFit/>
          </a:bodyPr>
          <a:lstStyle/>
          <a:p>
            <a:pPr algn="l"/>
            <a:r>
              <a:rPr sz="1000" b="1" i="0">
                <a:solidFill>
                  <a:srgbClr val="1E9E4F"/>
                </a:solidFill>
                <a:latin typeface="Arial"/>
              </a:rPr>
              <a:t>Chưa</a:t>
            </a:r>
          </a:p>
        </p:txBody>
      </p:sp>
      <p:sp>
        <p:nvSpPr>
          <p:cNvPr id="20" name="Down Arrow 19"/>
          <p:cNvSpPr/>
          <p:nvPr/>
        </p:nvSpPr>
        <p:spPr>
          <a:xfrm>
            <a:off x="3931920" y="5422392"/>
            <a:ext cx="457200" cy="365760"/>
          </a:xfrm>
          <a:prstGeom prst="downArrow">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45920" y="5806440"/>
            <a:ext cx="5029200" cy="658368"/>
          </a:xfrm>
          <a:prstGeom prst="roundRect">
            <a:avLst>
              <a:gd name="adj" fmla="val 10000"/>
            </a:avLst>
          </a:prstGeom>
          <a:solidFill>
            <a:srgbClr val="FBE7E6"/>
          </a:solidFill>
          <a:ln w="19050">
            <a:solidFill>
              <a:srgbClr val="D1372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D1372E"/>
                </a:solidFill>
                <a:latin typeface="Arial"/>
              </a:rPr>
              <a:t>Tạo Alert mới → lưu DB → hiện trên Dashboard</a:t>
            </a:r>
          </a:p>
        </p:txBody>
      </p:sp>
      <p:sp>
        <p:nvSpPr>
          <p:cNvPr id="22" name="Rounded Rectangle 21"/>
          <p:cNvSpPr/>
          <p:nvPr/>
        </p:nvSpPr>
        <p:spPr>
          <a:xfrm>
            <a:off x="9281160" y="1371600"/>
            <a:ext cx="2514600" cy="2788920"/>
          </a:xfrm>
          <a:prstGeom prst="roundRect">
            <a:avLst>
              <a:gd name="adj" fmla="val 10000"/>
            </a:avLst>
          </a:prstGeom>
          <a:solidFill>
            <a:srgbClr val="F1F3F5"/>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100" b="1" i="0">
                <a:solidFill>
                  <a:srgbClr val="0F2A54"/>
                </a:solidFill>
                <a:latin typeface="Arial"/>
              </a:rPr>
              <a:t>NGƯỠNG MẶC ĐỊNH</a:t>
            </a:r>
          </a:p>
          <a:p>
            <a:pPr algn="l"/>
            <a:r>
              <a:rPr sz="850" b="0" i="1">
                <a:solidFill>
                  <a:srgbClr val="5B6672"/>
                </a:solidFill>
                <a:latin typeface="Arial"/>
              </a:rPr>
              <a:t>(chỉnh trong Settings)</a:t>
            </a:r>
          </a:p>
          <a:p>
            <a:pPr algn="l"/>
            <a:r>
              <a:rPr sz="500" b="0" i="0">
                <a:solidFill>
                  <a:srgbClr val="5B6672"/>
                </a:solidFill>
                <a:latin typeface="Arial"/>
              </a:rPr>
              <a:t> </a:t>
            </a:r>
          </a:p>
          <a:p>
            <a:pPr algn="l"/>
            <a:r>
              <a:rPr sz="1050" b="0" i="0">
                <a:solidFill>
                  <a:srgbClr val="222A33"/>
                </a:solidFill>
                <a:latin typeface="Arial"/>
              </a:rPr>
              <a:t>CO₂ cao:  ≥ 800 ppm</a:t>
            </a:r>
          </a:p>
          <a:p>
            <a:pPr algn="l"/>
            <a:r>
              <a:rPr sz="1050" b="1" i="0">
                <a:solidFill>
                  <a:srgbClr val="D1372E"/>
                </a:solidFill>
                <a:latin typeface="Arial"/>
              </a:rPr>
              <a:t>CO₂ nguy hiểm: ≥ 1000</a:t>
            </a:r>
          </a:p>
          <a:p>
            <a:pPr algn="l"/>
            <a:r>
              <a:rPr sz="1050" b="0" i="0">
                <a:solidFill>
                  <a:srgbClr val="222A33"/>
                </a:solidFill>
                <a:latin typeface="Arial"/>
              </a:rPr>
              <a:t>Nhiệt độ:  ≥ 35 °C</a:t>
            </a:r>
          </a:p>
          <a:p>
            <a:pPr algn="l"/>
            <a:r>
              <a:rPr sz="1050" b="0" i="0">
                <a:solidFill>
                  <a:srgbClr val="222A33"/>
                </a:solidFill>
                <a:latin typeface="Arial"/>
              </a:rPr>
              <a:t>Độ ẩm:  &lt; 30% / &gt; 70%</a:t>
            </a:r>
          </a:p>
        </p:txBody>
      </p:sp>
      <p:sp>
        <p:nvSpPr>
          <p:cNvPr id="23" name="Rounded Rectangle 22"/>
          <p:cNvSpPr/>
          <p:nvPr/>
        </p:nvSpPr>
        <p:spPr>
          <a:xfrm>
            <a:off x="9281160" y="4343400"/>
            <a:ext cx="2514600" cy="1828800"/>
          </a:xfrm>
          <a:prstGeom prst="roundRect">
            <a:avLst>
              <a:gd name="adj" fmla="val 10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100" b="1" i="0">
                <a:solidFill>
                  <a:srgbClr val="FFFFFF"/>
                </a:solidFill>
                <a:latin typeface="Arial"/>
              </a:rPr>
              <a:t>Ý NGHĨA</a:t>
            </a:r>
          </a:p>
          <a:p>
            <a:pPr algn="l"/>
            <a:r>
              <a:rPr sz="500" b="0" i="0">
                <a:solidFill>
                  <a:srgbClr val="FFFFFF"/>
                </a:solidFill>
                <a:latin typeface="Arial"/>
              </a:rPr>
              <a:t> </a:t>
            </a:r>
          </a:p>
          <a:p>
            <a:pPr algn="l"/>
            <a:r>
              <a:rPr sz="1000" b="0" i="0">
                <a:solidFill>
                  <a:srgbClr val="DDE6F3"/>
                </a:solidFill>
                <a:latin typeface="Arial"/>
              </a:rPr>
              <a:t>Cooldown 5 phút/loại/thiết bị giúp mỗi lần vượt ngưỡng chỉ sinh 1 cảnh báo, tránh hàng chục thông báo trùng khi giá trị đứng yên ở mức cao.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HỆ THỐNG BẢO MẬT ĐA LỚP</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13</a:t>
            </a:r>
          </a:p>
        </p:txBody>
      </p:sp>
      <p:sp>
        <p:nvSpPr>
          <p:cNvPr id="7" name="TextBox 6"/>
          <p:cNvSpPr txBox="1"/>
          <p:nvPr/>
        </p:nvSpPr>
        <p:spPr>
          <a:xfrm>
            <a:off x="411480" y="1463040"/>
            <a:ext cx="1325880" cy="2926080"/>
          </a:xfrm>
          <a:prstGeom prst="rect">
            <a:avLst/>
          </a:prstGeom>
          <a:noFill/>
        </p:spPr>
        <p:txBody>
          <a:bodyPr wrap="square" anchor="t" lIns="36576" rIns="36576" tIns="18288" bIns="18288">
            <a:spAutoFit/>
          </a:bodyPr>
          <a:lstStyle/>
          <a:p>
            <a:pPr algn="l"/>
            <a:r>
              <a:rPr sz="1300" b="1" i="0">
                <a:solidFill>
                  <a:srgbClr val="D1372E"/>
                </a:solidFill>
                <a:latin typeface="Arial"/>
              </a:rPr>
              <a:t>Mối</a:t>
            </a:r>
          </a:p>
          <a:p>
            <a:pPr algn="l"/>
            <a:r>
              <a:rPr sz="1300" b="1" i="0">
                <a:solidFill>
                  <a:srgbClr val="D1372E"/>
                </a:solidFill>
                <a:latin typeface="Arial"/>
              </a:rPr>
              <a:t>đe dọa</a:t>
            </a:r>
          </a:p>
          <a:p>
            <a:pPr algn="l"/>
            <a:r>
              <a:rPr sz="600" b="0" i="0">
                <a:solidFill>
                  <a:srgbClr val="5B6672"/>
                </a:solidFill>
                <a:latin typeface="Arial"/>
              </a:rPr>
              <a:t> </a:t>
            </a:r>
          </a:p>
          <a:p>
            <a:pPr algn="l"/>
            <a:r>
              <a:rPr sz="1000" b="0" i="0">
                <a:solidFill>
                  <a:srgbClr val="5B6672"/>
                </a:solidFill>
                <a:latin typeface="Arial"/>
              </a:rPr>
              <a:t>nghe lén</a:t>
            </a:r>
          </a:p>
          <a:p>
            <a:pPr algn="l"/>
            <a:r>
              <a:rPr sz="1000" b="0" i="0">
                <a:solidFill>
                  <a:srgbClr val="5B6672"/>
                </a:solidFill>
                <a:latin typeface="Arial"/>
              </a:rPr>
              <a:t>MITM</a:t>
            </a:r>
          </a:p>
          <a:p>
            <a:pPr algn="l"/>
            <a:r>
              <a:rPr sz="1000" b="0" i="0">
                <a:solidFill>
                  <a:srgbClr val="5B6672"/>
                </a:solidFill>
                <a:latin typeface="Arial"/>
              </a:rPr>
              <a:t>thiết bị giả</a:t>
            </a:r>
          </a:p>
          <a:p>
            <a:pPr algn="l"/>
            <a:r>
              <a:rPr sz="1000" b="0" i="0">
                <a:solidFill>
                  <a:srgbClr val="5B6672"/>
                </a:solidFill>
                <a:latin typeface="Arial"/>
              </a:rPr>
              <a:t>truy cập trái phép</a:t>
            </a:r>
          </a:p>
          <a:p>
            <a:pPr algn="l"/>
            <a:r>
              <a:rPr sz="1000" b="0" i="0">
                <a:solidFill>
                  <a:srgbClr val="5B6672"/>
                </a:solidFill>
                <a:latin typeface="Arial"/>
              </a:rPr>
              <a:t>brute-force</a:t>
            </a:r>
          </a:p>
        </p:txBody>
      </p:sp>
      <p:sp>
        <p:nvSpPr>
          <p:cNvPr id="8" name="Rounded Rectangle 7"/>
          <p:cNvSpPr/>
          <p:nvPr/>
        </p:nvSpPr>
        <p:spPr>
          <a:xfrm>
            <a:off x="3383280" y="1371600"/>
            <a:ext cx="7863840" cy="123444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520440" y="1554480"/>
            <a:ext cx="1051560" cy="86868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LỚP 1</a:t>
            </a:r>
          </a:p>
        </p:txBody>
      </p:sp>
      <p:sp>
        <p:nvSpPr>
          <p:cNvPr id="10" name="TextBox 9"/>
          <p:cNvSpPr txBox="1"/>
          <p:nvPr/>
        </p:nvSpPr>
        <p:spPr>
          <a:xfrm>
            <a:off x="4709160" y="1490472"/>
            <a:ext cx="6400800" cy="1051560"/>
          </a:xfrm>
          <a:prstGeom prst="rect">
            <a:avLst/>
          </a:prstGeom>
          <a:noFill/>
        </p:spPr>
        <p:txBody>
          <a:bodyPr wrap="square" anchor="ctr" lIns="36576" rIns="36576" tIns="18288" bIns="18288">
            <a:spAutoFit/>
          </a:bodyPr>
          <a:lstStyle/>
          <a:p>
            <a:pPr algn="l"/>
            <a:r>
              <a:rPr sz="1350" b="1" i="0">
                <a:solidFill>
                  <a:srgbClr val="0F2A54"/>
                </a:solidFill>
                <a:latin typeface="Arial"/>
              </a:rPr>
              <a:t>Bảo mật đường truyền (Transport / TLS)</a:t>
            </a:r>
          </a:p>
          <a:p>
            <a:pPr algn="l"/>
            <a:r>
              <a:rPr sz="1000" b="0" i="0">
                <a:solidFill>
                  <a:srgbClr val="222A33"/>
                </a:solidFill>
                <a:latin typeface="Arial"/>
              </a:rPr>
              <a:t>MQTT over TLS · cổng 8883 · xác thực chứng chỉ broker (ISRG Root X1) · user/pass broker</a:t>
            </a:r>
          </a:p>
          <a:p>
            <a:pPr algn="l"/>
            <a:r>
              <a:rPr sz="1000" b="1" i="0">
                <a:solidFill>
                  <a:srgbClr val="1E9E4F"/>
                </a:solidFill>
                <a:latin typeface="Arial"/>
              </a:rPr>
              <a:t>● </a:t>
            </a:r>
            <a:r>
              <a:rPr sz="1050" b="1" i="0">
                <a:solidFill>
                  <a:srgbClr val="1E9E4F"/>
                </a:solidFill>
                <a:latin typeface="Arial"/>
              </a:rPr>
              <a:t>Chặn: nghe lén, giả mạo broker (MITM)</a:t>
            </a:r>
          </a:p>
        </p:txBody>
      </p:sp>
      <p:sp>
        <p:nvSpPr>
          <p:cNvPr id="11" name="Rounded Rectangle 10"/>
          <p:cNvSpPr/>
          <p:nvPr/>
        </p:nvSpPr>
        <p:spPr>
          <a:xfrm>
            <a:off x="3383280" y="2788920"/>
            <a:ext cx="7863840" cy="1234440"/>
          </a:xfrm>
          <a:prstGeom prst="roundRect">
            <a:avLst>
              <a:gd name="adj" fmla="val 10000"/>
            </a:avLst>
          </a:prstGeom>
          <a:solidFill>
            <a:srgbClr val="D3E4F7"/>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520440" y="2971800"/>
            <a:ext cx="1051560" cy="868680"/>
          </a:xfrm>
          <a:prstGeom prst="roundRect">
            <a:avLst/>
          </a:prstGeom>
          <a:solidFill>
            <a:srgbClr val="2B5B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LỚP 2</a:t>
            </a:r>
          </a:p>
        </p:txBody>
      </p:sp>
      <p:sp>
        <p:nvSpPr>
          <p:cNvPr id="13" name="TextBox 12"/>
          <p:cNvSpPr txBox="1"/>
          <p:nvPr/>
        </p:nvSpPr>
        <p:spPr>
          <a:xfrm>
            <a:off x="4709160" y="2907791"/>
            <a:ext cx="6400800" cy="1051560"/>
          </a:xfrm>
          <a:prstGeom prst="rect">
            <a:avLst/>
          </a:prstGeom>
          <a:noFill/>
        </p:spPr>
        <p:txBody>
          <a:bodyPr wrap="square" anchor="ctr" lIns="36576" rIns="36576" tIns="18288" bIns="18288">
            <a:spAutoFit/>
          </a:bodyPr>
          <a:lstStyle/>
          <a:p>
            <a:pPr algn="l"/>
            <a:r>
              <a:rPr sz="1350" b="1" i="0">
                <a:solidFill>
                  <a:srgbClr val="0F2A54"/>
                </a:solidFill>
                <a:latin typeface="Arial"/>
              </a:rPr>
              <a:t>Xác thực thiết bị (Device API Key)</a:t>
            </a:r>
          </a:p>
          <a:p>
            <a:pPr algn="l"/>
            <a:r>
              <a:rPr sz="1000" b="0" i="0">
                <a:solidFill>
                  <a:srgbClr val="222A33"/>
                </a:solidFill>
                <a:latin typeface="Arial"/>
              </a:rPr>
              <a:t>Mỗi payload kèm api_key riêng · Backend kiểm tra trước khi ghi DB · sai/thiếu → loại bỏ</a:t>
            </a:r>
          </a:p>
          <a:p>
            <a:pPr algn="l"/>
            <a:r>
              <a:rPr sz="1000" b="1" i="0">
                <a:solidFill>
                  <a:srgbClr val="1E9E4F"/>
                </a:solidFill>
                <a:latin typeface="Arial"/>
              </a:rPr>
              <a:t>● </a:t>
            </a:r>
            <a:r>
              <a:rPr sz="1050" b="1" i="0">
                <a:solidFill>
                  <a:srgbClr val="1E9E4F"/>
                </a:solidFill>
                <a:latin typeface="Arial"/>
              </a:rPr>
              <a:t>Chặn: thiết bị &amp; dữ liệu giả mạo</a:t>
            </a:r>
          </a:p>
        </p:txBody>
      </p:sp>
      <p:sp>
        <p:nvSpPr>
          <p:cNvPr id="14" name="Rounded Rectangle 13"/>
          <p:cNvSpPr/>
          <p:nvPr/>
        </p:nvSpPr>
        <p:spPr>
          <a:xfrm>
            <a:off x="3383280" y="4206240"/>
            <a:ext cx="7863840" cy="123444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3520440" y="4389120"/>
            <a:ext cx="1051560" cy="868680"/>
          </a:xfrm>
          <a:prstGeom prst="round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LỚP 3</a:t>
            </a:r>
          </a:p>
        </p:txBody>
      </p:sp>
      <p:sp>
        <p:nvSpPr>
          <p:cNvPr id="16" name="TextBox 15"/>
          <p:cNvSpPr txBox="1"/>
          <p:nvPr/>
        </p:nvSpPr>
        <p:spPr>
          <a:xfrm>
            <a:off x="4709160" y="4325112"/>
            <a:ext cx="6400800" cy="1051560"/>
          </a:xfrm>
          <a:prstGeom prst="rect">
            <a:avLst/>
          </a:prstGeom>
          <a:noFill/>
        </p:spPr>
        <p:txBody>
          <a:bodyPr wrap="square" anchor="ctr" lIns="36576" rIns="36576" tIns="18288" bIns="18288">
            <a:spAutoFit/>
          </a:bodyPr>
          <a:lstStyle/>
          <a:p>
            <a:pPr algn="l"/>
            <a:r>
              <a:rPr sz="1350" b="1" i="0">
                <a:solidFill>
                  <a:srgbClr val="0F2A54"/>
                </a:solidFill>
                <a:latin typeface="Arial"/>
              </a:rPr>
              <a:t>Xác thực người dùng web (JWT + hardening)</a:t>
            </a:r>
          </a:p>
          <a:p>
            <a:pPr algn="l"/>
            <a:r>
              <a:rPr sz="1000" b="0" i="0">
                <a:solidFill>
                  <a:srgbClr val="222A33"/>
                </a:solidFill>
                <a:latin typeface="Arial"/>
              </a:rPr>
              <a:t>bcrypt · access 15' + refresh 7d (rotate) · idle-logout 1h · rate-limit auth · middleware JWT</a:t>
            </a:r>
          </a:p>
          <a:p>
            <a:pPr algn="l"/>
            <a:r>
              <a:rPr sz="1000" b="1" i="0">
                <a:solidFill>
                  <a:srgbClr val="1E9E4F"/>
                </a:solidFill>
                <a:latin typeface="Arial"/>
              </a:rPr>
              <a:t>● </a:t>
            </a:r>
            <a:r>
              <a:rPr sz="1050" b="1" i="0">
                <a:solidFill>
                  <a:srgbClr val="1E9E4F"/>
                </a:solidFill>
                <a:latin typeface="Arial"/>
              </a:rPr>
              <a:t>Chặn: truy cập trái phép, brute-force</a:t>
            </a:r>
          </a:p>
        </p:txBody>
      </p:sp>
      <p:sp>
        <p:nvSpPr>
          <p:cNvPr id="17" name="Down Arrow 16"/>
          <p:cNvSpPr/>
          <p:nvPr/>
        </p:nvSpPr>
        <p:spPr>
          <a:xfrm>
            <a:off x="1828800" y="1554480"/>
            <a:ext cx="502920" cy="3703320"/>
          </a:xfrm>
          <a:prstGeom prst="downArrow">
            <a:avLst/>
          </a:prstGeom>
          <a:solidFill>
            <a:srgbClr val="D13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5303520"/>
            <a:ext cx="1371600" cy="274320"/>
          </a:xfrm>
          <a:prstGeom prst="rect">
            <a:avLst/>
          </a:prstGeom>
          <a:noFill/>
        </p:spPr>
        <p:txBody>
          <a:bodyPr wrap="square" anchor="t" lIns="36576" rIns="36576" tIns="18288" bIns="18288">
            <a:spAutoFit/>
          </a:bodyPr>
          <a:lstStyle/>
          <a:p>
            <a:pPr algn="ctr"/>
            <a:r>
              <a:rPr sz="900" b="1" i="1">
                <a:solidFill>
                  <a:srgbClr val="D1372E"/>
                </a:solidFill>
                <a:latin typeface="Arial"/>
              </a:rPr>
              <a:t>bị lọc dần</a:t>
            </a:r>
          </a:p>
        </p:txBody>
      </p:sp>
      <p:sp>
        <p:nvSpPr>
          <p:cNvPr id="19" name="Rounded Rectangle 18"/>
          <p:cNvSpPr/>
          <p:nvPr/>
        </p:nvSpPr>
        <p:spPr>
          <a:xfrm>
            <a:off x="502920" y="5760720"/>
            <a:ext cx="11201400" cy="548640"/>
          </a:xfrm>
          <a:prstGeom prst="roundRect">
            <a:avLst>
              <a:gd name="adj" fmla="val 30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i="0">
                <a:solidFill>
                  <a:srgbClr val="FFFFFF"/>
                </a:solidFill>
                <a:latin typeface="Arial"/>
              </a:rPr>
              <a:t>Phòng thủ theo chiều sâu: 3 lớp độc lập — một lớp bị hạn chế (broker Free dùng chung credential), hai lớp còn lại vẫn giữ an toàn tổng thể.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LỚP 1 — BẢO MẬT ĐƯỜNG TRUYỀN MQTT (TLS)</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15</a:t>
            </a:r>
          </a:p>
        </p:txBody>
      </p:sp>
      <p:sp>
        <p:nvSpPr>
          <p:cNvPr id="7" name="Rounded Rectangle 6"/>
          <p:cNvSpPr/>
          <p:nvPr/>
        </p:nvSpPr>
        <p:spPr>
          <a:xfrm>
            <a:off x="502920" y="1280160"/>
            <a:ext cx="11201400" cy="868680"/>
          </a:xfrm>
          <a:prstGeom prst="roundRect">
            <a:avLst>
              <a:gd name="adj" fmla="val 10000"/>
            </a:avLst>
          </a:prstGeom>
          <a:solidFill>
            <a:srgbClr val="F1F3F5"/>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1371600"/>
            <a:ext cx="10835640" cy="685800"/>
          </a:xfrm>
          <a:prstGeom prst="rect">
            <a:avLst/>
          </a:prstGeom>
          <a:noFill/>
        </p:spPr>
        <p:txBody>
          <a:bodyPr wrap="square" anchor="ctr" lIns="36576" rIns="36576" tIns="18288" bIns="18288">
            <a:spAutoFit/>
          </a:bodyPr>
          <a:lstStyle/>
          <a:p>
            <a:pPr algn="l"/>
            <a:r>
              <a:rPr sz="1150" b="1" i="0">
                <a:solidFill>
                  <a:srgbClr val="0F2A54"/>
                </a:solidFill>
                <a:latin typeface="Arial"/>
              </a:rPr>
              <a:t>BỐI CẢNH</a:t>
            </a:r>
          </a:p>
          <a:p>
            <a:pPr algn="l"/>
            <a:r>
              <a:rPr sz="1150" b="0" i="0">
                <a:solidFill>
                  <a:srgbClr val="222A33"/>
                </a:solidFill>
                <a:latin typeface="Arial"/>
              </a:rPr>
              <a:t>Dữ liệu cảm biến đi qua Internet tới broker. Nếu không mã hóa, gói tin có thể bị nghe lén hoặc bị chèn/sửa trên đường truyền.</a:t>
            </a:r>
          </a:p>
        </p:txBody>
      </p:sp>
      <p:sp>
        <p:nvSpPr>
          <p:cNvPr id="9" name="Rounded Rectangle 8"/>
          <p:cNvSpPr/>
          <p:nvPr/>
        </p:nvSpPr>
        <p:spPr>
          <a:xfrm>
            <a:off x="502920" y="2331720"/>
            <a:ext cx="5486400" cy="27889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2331720"/>
            <a:ext cx="5486400"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ÁP DỤNG TRONG PROJECT</a:t>
            </a:r>
          </a:p>
        </p:txBody>
      </p:sp>
      <p:sp>
        <p:nvSpPr>
          <p:cNvPr id="11" name="TextBox 10"/>
          <p:cNvSpPr txBox="1"/>
          <p:nvPr/>
        </p:nvSpPr>
        <p:spPr>
          <a:xfrm>
            <a:off x="685800" y="2990088"/>
            <a:ext cx="5120640" cy="2039111"/>
          </a:xfrm>
          <a:prstGeom prst="rect">
            <a:avLst/>
          </a:prstGeom>
          <a:noFill/>
        </p:spPr>
        <p:txBody>
          <a:bodyPr wrap="square" anchor="t" lIns="36576" rIns="36576" tIns="18288" bIns="18288">
            <a:spAutoFit/>
          </a:bodyPr>
          <a:lstStyle/>
          <a:p>
            <a:pPr algn="l"/>
            <a:r>
              <a:rPr sz="1150" b="1" i="0">
                <a:solidFill>
                  <a:srgbClr val="0F2A54"/>
                </a:solidFill>
                <a:latin typeface="Arial"/>
              </a:rPr>
              <a:t>•  </a:t>
            </a:r>
            <a:r>
              <a:rPr sz="1150" b="0" i="0">
                <a:solidFill>
                  <a:srgbClr val="222A33"/>
                </a:solidFill>
                <a:latin typeface="Arial"/>
              </a:rPr>
              <a:t>Kết nối broker qua mqtts:// — TLS, cổng 8883 (thay 1883 không mã hóa)</a:t>
            </a:r>
          </a:p>
          <a:p>
            <a:pPr algn="l"/>
            <a:r>
              <a:rPr sz="1150" b="1" i="0">
                <a:solidFill>
                  <a:srgbClr val="0F2A54"/>
                </a:solidFill>
                <a:latin typeface="Arial"/>
              </a:rPr>
              <a:t>•  </a:t>
            </a:r>
            <a:r>
              <a:rPr sz="1150" b="0" i="0">
                <a:solidFill>
                  <a:srgbClr val="222A33"/>
                </a:solidFill>
                <a:latin typeface="Arial"/>
              </a:rPr>
              <a:t>Firmware dùng WiFiClientSecure.setCACert() với root CA thật (ISRG Root X1)</a:t>
            </a:r>
          </a:p>
          <a:p>
            <a:pPr algn="l"/>
            <a:r>
              <a:rPr sz="1150" b="1" i="0">
                <a:solidFill>
                  <a:srgbClr val="0F2A54"/>
                </a:solidFill>
                <a:latin typeface="Arial"/>
              </a:rPr>
              <a:t>•  </a:t>
            </a:r>
            <a:r>
              <a:rPr sz="1150" b="0" i="0">
                <a:solidFill>
                  <a:srgbClr val="222A33"/>
                </a:solidFill>
                <a:latin typeface="Arial"/>
              </a:rPr>
              <a:t>Xác thực đúng chứng chỉ broker — KHÔNG dùng setInsecure()</a:t>
            </a:r>
          </a:p>
          <a:p>
            <a:pPr algn="l"/>
            <a:r>
              <a:rPr sz="1150" b="1" i="0">
                <a:solidFill>
                  <a:srgbClr val="0F2A54"/>
                </a:solidFill>
                <a:latin typeface="Arial"/>
              </a:rPr>
              <a:t>•  </a:t>
            </a:r>
            <a:r>
              <a:rPr sz="1150" b="0" i="0">
                <a:solidFill>
                  <a:srgbClr val="222A33"/>
                </a:solidFill>
                <a:latin typeface="Arial"/>
              </a:rPr>
              <a:t>Kết nối còn yêu cầu username/password cấp broker</a:t>
            </a:r>
          </a:p>
          <a:p>
            <a:pPr algn="l"/>
            <a:r>
              <a:rPr sz="1150" b="1" i="0">
                <a:solidFill>
                  <a:srgbClr val="0F2A54"/>
                </a:solidFill>
                <a:latin typeface="Arial"/>
              </a:rPr>
              <a:t>•  </a:t>
            </a:r>
            <a:r>
              <a:rPr sz="1150" b="0" i="0">
                <a:solidFill>
                  <a:srgbClr val="222A33"/>
                </a:solidFill>
                <a:latin typeface="Arial"/>
              </a:rPr>
              <a:t>Backend cũng subscribe qua mqtts://…:8883 cùng cơ chế TLS</a:t>
            </a:r>
          </a:p>
        </p:txBody>
      </p:sp>
      <p:sp>
        <p:nvSpPr>
          <p:cNvPr id="12" name="Rounded Rectangle 11"/>
          <p:cNvSpPr/>
          <p:nvPr/>
        </p:nvSpPr>
        <p:spPr>
          <a:xfrm>
            <a:off x="6236208" y="2331720"/>
            <a:ext cx="5468112" cy="2788920"/>
          </a:xfrm>
          <a:prstGeom prst="roundRect">
            <a:avLst>
              <a:gd name="adj" fmla="val 10000"/>
            </a:avLst>
          </a:prstGeom>
          <a:solidFill>
            <a:srgbClr val="E4F5EA"/>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236208" y="2331720"/>
            <a:ext cx="5468112" cy="548640"/>
          </a:xfrm>
          <a:prstGeom prst="roundRect">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CHỐNG ĐƯỢC TẤN CÔNG</a:t>
            </a:r>
          </a:p>
        </p:txBody>
      </p:sp>
      <p:sp>
        <p:nvSpPr>
          <p:cNvPr id="14" name="TextBox 13"/>
          <p:cNvSpPr txBox="1"/>
          <p:nvPr/>
        </p:nvSpPr>
        <p:spPr>
          <a:xfrm>
            <a:off x="6419088" y="2990088"/>
            <a:ext cx="5102352" cy="2039111"/>
          </a:xfrm>
          <a:prstGeom prst="rect">
            <a:avLst/>
          </a:prstGeom>
          <a:noFill/>
        </p:spPr>
        <p:txBody>
          <a:bodyPr wrap="square" anchor="t" lIns="36576" rIns="36576" tIns="18288" bIns="18288">
            <a:spAutoFit/>
          </a:bodyPr>
          <a:lstStyle/>
          <a:p>
            <a:pPr algn="l"/>
            <a:r>
              <a:rPr sz="1150" b="1" i="0">
                <a:solidFill>
                  <a:srgbClr val="1E9E4F"/>
                </a:solidFill>
                <a:latin typeface="Arial"/>
              </a:rPr>
              <a:t>•  </a:t>
            </a:r>
            <a:r>
              <a:rPr sz="1150" b="0" i="0">
                <a:solidFill>
                  <a:srgbClr val="222A33"/>
                </a:solidFill>
                <a:latin typeface="Arial"/>
              </a:rPr>
              <a:t>Nghe lén dữ liệu trên đường truyền (eavesdropping)</a:t>
            </a:r>
          </a:p>
          <a:p>
            <a:pPr algn="l"/>
            <a:r>
              <a:rPr sz="1150" b="1" i="0">
                <a:solidFill>
                  <a:srgbClr val="1E9E4F"/>
                </a:solidFill>
                <a:latin typeface="Arial"/>
              </a:rPr>
              <a:t>•  </a:t>
            </a:r>
            <a:r>
              <a:rPr sz="1150" b="0" i="0">
                <a:solidFill>
                  <a:srgbClr val="222A33"/>
                </a:solidFill>
                <a:latin typeface="Arial"/>
              </a:rPr>
              <a:t>Giả mạo broker để đọc/sửa dữ liệu (Man-in-the-Middle)</a:t>
            </a:r>
          </a:p>
          <a:p>
            <a:pPr algn="l"/>
            <a:r>
              <a:rPr sz="1150" b="1" i="0">
                <a:solidFill>
                  <a:srgbClr val="1E9E4F"/>
                </a:solidFill>
                <a:latin typeface="Arial"/>
              </a:rPr>
              <a:t>•  </a:t>
            </a:r>
            <a:r>
              <a:rPr sz="1150" b="0" i="0">
                <a:solidFill>
                  <a:srgbClr val="222A33"/>
                </a:solidFill>
                <a:latin typeface="Arial"/>
              </a:rPr>
              <a:t>Client lạ không có credential broker publish/subscribe</a:t>
            </a:r>
          </a:p>
        </p:txBody>
      </p:sp>
      <p:sp>
        <p:nvSpPr>
          <p:cNvPr id="15" name="Rounded Rectangle 14"/>
          <p:cNvSpPr/>
          <p:nvPr/>
        </p:nvSpPr>
        <p:spPr>
          <a:xfrm>
            <a:off x="502920" y="5303520"/>
            <a:ext cx="11201400" cy="777240"/>
          </a:xfrm>
          <a:prstGeom prst="roundRect">
            <a:avLst>
              <a:gd name="adj" fmla="val 1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9EC4F0"/>
                </a:solidFill>
                <a:latin typeface="Arial"/>
              </a:rPr>
              <a:t>Vị trí trong code:  </a:t>
            </a:r>
            <a:r>
              <a:rPr sz="1100" b="0" i="0">
                <a:solidFill>
                  <a:srgbClr val="D7E3F2"/>
                </a:solidFill>
                <a:latin typeface="Arial"/>
              </a:rPr>
              <a:t>firmware/esp32_airiq.ino → setCACert(HIVEMQ_ROOT_CA)   ·   iot-backend/src/mqtt/subscriber.js → mqtt.connect('mqtts://…:8883')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LỚP 2 — XÁC THỰC THIẾT BỊ (Device API Key)</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16</a:t>
            </a:r>
          </a:p>
        </p:txBody>
      </p:sp>
      <p:sp>
        <p:nvSpPr>
          <p:cNvPr id="7" name="Rounded Rectangle 6"/>
          <p:cNvSpPr/>
          <p:nvPr/>
        </p:nvSpPr>
        <p:spPr>
          <a:xfrm>
            <a:off x="502920" y="1280160"/>
            <a:ext cx="11201400" cy="868680"/>
          </a:xfrm>
          <a:prstGeom prst="roundRect">
            <a:avLst>
              <a:gd name="adj" fmla="val 10000"/>
            </a:avLst>
          </a:prstGeom>
          <a:solidFill>
            <a:srgbClr val="F1F3F5"/>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1371600"/>
            <a:ext cx="10835640" cy="685800"/>
          </a:xfrm>
          <a:prstGeom prst="rect">
            <a:avLst/>
          </a:prstGeom>
          <a:noFill/>
        </p:spPr>
        <p:txBody>
          <a:bodyPr wrap="square" anchor="ctr" lIns="36576" rIns="36576" tIns="18288" bIns="18288">
            <a:spAutoFit/>
          </a:bodyPr>
          <a:lstStyle/>
          <a:p>
            <a:pPr algn="l"/>
            <a:r>
              <a:rPr sz="1150" b="1" i="0">
                <a:solidFill>
                  <a:srgbClr val="2B5B9E"/>
                </a:solidFill>
                <a:latin typeface="Arial"/>
              </a:rPr>
              <a:t>BỐI CẢNH</a:t>
            </a:r>
          </a:p>
          <a:p>
            <a:pPr algn="l"/>
            <a:r>
              <a:rPr sz="1150" b="0" i="0">
                <a:solidFill>
                  <a:srgbClr val="222A33"/>
                </a:solidFill>
                <a:latin typeface="Arial"/>
              </a:rPr>
              <a:t>HiveMQ Cloud gói Free chỉ cấp 1 cặp credential MQTT dùng chung cho mọi thiết bị → không thể chỉ tin cậy vào lớp broker.</a:t>
            </a:r>
          </a:p>
        </p:txBody>
      </p:sp>
      <p:sp>
        <p:nvSpPr>
          <p:cNvPr id="9" name="Rounded Rectangle 8"/>
          <p:cNvSpPr/>
          <p:nvPr/>
        </p:nvSpPr>
        <p:spPr>
          <a:xfrm>
            <a:off x="502920" y="2331720"/>
            <a:ext cx="5486400" cy="27889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2331720"/>
            <a:ext cx="5486400"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ÁP DỤNG TRONG PROJECT</a:t>
            </a:r>
          </a:p>
        </p:txBody>
      </p:sp>
      <p:sp>
        <p:nvSpPr>
          <p:cNvPr id="11" name="TextBox 10"/>
          <p:cNvSpPr txBox="1"/>
          <p:nvPr/>
        </p:nvSpPr>
        <p:spPr>
          <a:xfrm>
            <a:off x="685800" y="2990088"/>
            <a:ext cx="5120640" cy="2039111"/>
          </a:xfrm>
          <a:prstGeom prst="rect">
            <a:avLst/>
          </a:prstGeom>
          <a:noFill/>
        </p:spPr>
        <p:txBody>
          <a:bodyPr wrap="square" anchor="t" lIns="36576" rIns="36576" tIns="18288" bIns="18288">
            <a:spAutoFit/>
          </a:bodyPr>
          <a:lstStyle/>
          <a:p>
            <a:pPr algn="l"/>
            <a:r>
              <a:rPr sz="1150" b="1" i="0">
                <a:solidFill>
                  <a:srgbClr val="0F2A54"/>
                </a:solidFill>
                <a:latin typeface="Arial"/>
              </a:rPr>
              <a:t>•  </a:t>
            </a:r>
            <a:r>
              <a:rPr sz="1150" b="0" i="0">
                <a:solidFill>
                  <a:srgbClr val="222A33"/>
                </a:solidFill>
                <a:latin typeface="Arial"/>
              </a:rPr>
              <a:t>Mỗi payload thiết bị gửi lên đều kèm api_key riêng (DEVICE_API_KEY)</a:t>
            </a:r>
          </a:p>
          <a:p>
            <a:pPr algn="l"/>
            <a:r>
              <a:rPr sz="1150" b="1" i="0">
                <a:solidFill>
                  <a:srgbClr val="0F2A54"/>
                </a:solidFill>
                <a:latin typeface="Arial"/>
              </a:rPr>
              <a:t>•  </a:t>
            </a:r>
            <a:r>
              <a:rPr sz="1150" b="0" i="0">
                <a:solidFill>
                  <a:srgbClr val="222A33"/>
                </a:solidFill>
                <a:latin typeface="Arial"/>
              </a:rPr>
              <a:t>Backend kiểm tra api_key TRƯỚC KHI ghi vào MongoDB</a:t>
            </a:r>
          </a:p>
          <a:p>
            <a:pPr algn="l"/>
            <a:r>
              <a:rPr sz="1150" b="1" i="0">
                <a:solidFill>
                  <a:srgbClr val="0F2A54"/>
                </a:solidFill>
                <a:latin typeface="Arial"/>
              </a:rPr>
              <a:t>•  </a:t>
            </a:r>
            <a:r>
              <a:rPr sz="1150" b="0" i="0">
                <a:solidFill>
                  <a:srgbClr val="222A33"/>
                </a:solidFill>
                <a:latin typeface="Arial"/>
              </a:rPr>
              <a:t>Sai/thiếu key → log 'Invalid API key' và loại bỏ, không lưu</a:t>
            </a:r>
          </a:p>
          <a:p>
            <a:pPr algn="l"/>
            <a:r>
              <a:rPr sz="1150" b="1" i="0">
                <a:solidFill>
                  <a:srgbClr val="0F2A54"/>
                </a:solidFill>
                <a:latin typeface="Arial"/>
              </a:rPr>
              <a:t>•  </a:t>
            </a:r>
            <a:r>
              <a:rPr sz="1150" b="0" i="0">
                <a:solidFill>
                  <a:srgbClr val="222A33"/>
                </a:solidFill>
                <a:latin typeface="Arial"/>
              </a:rPr>
              <a:t>Lớp xác thực 'thiết bị hợp lệ' độc lập với lớp broker</a:t>
            </a:r>
          </a:p>
          <a:p>
            <a:pPr algn="l"/>
            <a:r>
              <a:rPr sz="1150" b="1" i="0">
                <a:solidFill>
                  <a:srgbClr val="0F2A54"/>
                </a:solidFill>
                <a:latin typeface="Arial"/>
              </a:rPr>
              <a:t>•  </a:t>
            </a:r>
            <a:r>
              <a:rPr sz="1150" b="0" i="0">
                <a:solidFill>
                  <a:srgbClr val="222A33"/>
                </a:solidFill>
                <a:latin typeface="Arial"/>
              </a:rPr>
              <a:t>Bù cho hạn chế credential dùng chung của gói MQTT Free</a:t>
            </a:r>
          </a:p>
        </p:txBody>
      </p:sp>
      <p:sp>
        <p:nvSpPr>
          <p:cNvPr id="12" name="Rounded Rectangle 11"/>
          <p:cNvSpPr/>
          <p:nvPr/>
        </p:nvSpPr>
        <p:spPr>
          <a:xfrm>
            <a:off x="6236208" y="2331720"/>
            <a:ext cx="5468112" cy="2788920"/>
          </a:xfrm>
          <a:prstGeom prst="roundRect">
            <a:avLst>
              <a:gd name="adj" fmla="val 10000"/>
            </a:avLst>
          </a:prstGeom>
          <a:solidFill>
            <a:srgbClr val="E4F5EA"/>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236208" y="2331720"/>
            <a:ext cx="5468112" cy="548640"/>
          </a:xfrm>
          <a:prstGeom prst="roundRect">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CHỐNG ĐƯỢC TẤN CÔNG</a:t>
            </a:r>
          </a:p>
        </p:txBody>
      </p:sp>
      <p:sp>
        <p:nvSpPr>
          <p:cNvPr id="14" name="TextBox 13"/>
          <p:cNvSpPr txBox="1"/>
          <p:nvPr/>
        </p:nvSpPr>
        <p:spPr>
          <a:xfrm>
            <a:off x="6419088" y="2990088"/>
            <a:ext cx="5102352" cy="2039111"/>
          </a:xfrm>
          <a:prstGeom prst="rect">
            <a:avLst/>
          </a:prstGeom>
          <a:noFill/>
        </p:spPr>
        <p:txBody>
          <a:bodyPr wrap="square" anchor="t" lIns="36576" rIns="36576" tIns="18288" bIns="18288">
            <a:spAutoFit/>
          </a:bodyPr>
          <a:lstStyle/>
          <a:p>
            <a:pPr algn="l"/>
            <a:r>
              <a:rPr sz="1150" b="1" i="0">
                <a:solidFill>
                  <a:srgbClr val="1E9E4F"/>
                </a:solidFill>
                <a:latin typeface="Arial"/>
              </a:rPr>
              <a:t>•  </a:t>
            </a:r>
            <a:r>
              <a:rPr sz="1150" b="0" i="0">
                <a:solidFill>
                  <a:srgbClr val="222A33"/>
                </a:solidFill>
                <a:latin typeface="Arial"/>
              </a:rPr>
              <a:t>Thiết bị giả mạo đẩy dữ liệu rác vào hệ thống</a:t>
            </a:r>
          </a:p>
          <a:p>
            <a:pPr algn="l"/>
            <a:r>
              <a:rPr sz="1150" b="1" i="0">
                <a:solidFill>
                  <a:srgbClr val="1E9E4F"/>
                </a:solidFill>
                <a:latin typeface="Arial"/>
              </a:rPr>
              <a:t>•  </a:t>
            </a:r>
            <a:r>
              <a:rPr sz="1150" b="0" i="0">
                <a:solidFill>
                  <a:srgbClr val="222A33"/>
                </a:solidFill>
                <a:latin typeface="Arial"/>
              </a:rPr>
              <a:t>Kẻ lấy được credential broker chung vẫn bị chặn nếu không có api_key</a:t>
            </a:r>
          </a:p>
          <a:p>
            <a:pPr algn="l"/>
            <a:r>
              <a:rPr sz="1150" b="1" i="0">
                <a:solidFill>
                  <a:srgbClr val="1E9E4F"/>
                </a:solidFill>
                <a:latin typeface="Arial"/>
              </a:rPr>
              <a:t>•  </a:t>
            </a:r>
            <a:r>
              <a:rPr sz="1150" b="0" i="0">
                <a:solidFill>
                  <a:srgbClr val="222A33"/>
                </a:solidFill>
                <a:latin typeface="Arial"/>
              </a:rPr>
              <a:t>Ghi bẩn dữ liệu sai lệch vào cơ sở dữ liệu</a:t>
            </a:r>
          </a:p>
        </p:txBody>
      </p:sp>
      <p:sp>
        <p:nvSpPr>
          <p:cNvPr id="15" name="Rounded Rectangle 14"/>
          <p:cNvSpPr/>
          <p:nvPr/>
        </p:nvSpPr>
        <p:spPr>
          <a:xfrm>
            <a:off x="502920" y="5303520"/>
            <a:ext cx="11201400" cy="777240"/>
          </a:xfrm>
          <a:prstGeom prst="roundRect">
            <a:avLst>
              <a:gd name="adj" fmla="val 1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9EC4F0"/>
                </a:solidFill>
                <a:latin typeface="Arial"/>
              </a:rPr>
              <a:t>Vị trí trong code:  </a:t>
            </a:r>
            <a:r>
              <a:rPr sz="1100" b="0" i="0">
                <a:solidFill>
                  <a:srgbClr val="D7E3F2"/>
                </a:solidFill>
                <a:latin typeface="Arial"/>
              </a:rPr>
              <a:t>iot-backend/src/mqtt/subscriber.js → if (data.api_key !== process.env.DEVICE_API_KEY) return;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LỚP 3 — BẢO VỆ PHIÊN NGƯỜI DÙNG WEB (JWT)</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17</a:t>
            </a:r>
          </a:p>
        </p:txBody>
      </p:sp>
      <p:sp>
        <p:nvSpPr>
          <p:cNvPr id="7" name="Rounded Rectangle 6"/>
          <p:cNvSpPr/>
          <p:nvPr/>
        </p:nvSpPr>
        <p:spPr>
          <a:xfrm>
            <a:off x="502920" y="1280160"/>
            <a:ext cx="11201400" cy="868680"/>
          </a:xfrm>
          <a:prstGeom prst="roundRect">
            <a:avLst>
              <a:gd name="adj" fmla="val 10000"/>
            </a:avLst>
          </a:prstGeom>
          <a:solidFill>
            <a:srgbClr val="F1F3F5"/>
          </a:solidFill>
          <a:ln w="1270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1371600"/>
            <a:ext cx="10835640" cy="685800"/>
          </a:xfrm>
          <a:prstGeom prst="rect">
            <a:avLst/>
          </a:prstGeom>
          <a:noFill/>
        </p:spPr>
        <p:txBody>
          <a:bodyPr wrap="square" anchor="ctr" lIns="36576" rIns="36576" tIns="18288" bIns="18288">
            <a:spAutoFit/>
          </a:bodyPr>
          <a:lstStyle/>
          <a:p>
            <a:pPr algn="l"/>
            <a:r>
              <a:rPr sz="1150" b="1" i="0">
                <a:solidFill>
                  <a:srgbClr val="C4122D"/>
                </a:solidFill>
                <a:latin typeface="Arial"/>
              </a:rPr>
              <a:t>BỐI CẢNH</a:t>
            </a:r>
          </a:p>
          <a:p>
            <a:pPr algn="l"/>
            <a:r>
              <a:rPr sz="1150" b="0" i="0">
                <a:solidFill>
                  <a:srgbClr val="222A33"/>
                </a:solidFill>
                <a:latin typeface="Arial"/>
              </a:rPr>
              <a:t>Dashboard hiển thị dữ liệu nhạy cảm. Cần đảm bảo chỉ người dùng đã xác thực mới truy cập, và chống dò mật khẩu / đánh cắp phiên.</a:t>
            </a:r>
          </a:p>
        </p:txBody>
      </p:sp>
      <p:sp>
        <p:nvSpPr>
          <p:cNvPr id="9" name="Rounded Rectangle 8"/>
          <p:cNvSpPr/>
          <p:nvPr/>
        </p:nvSpPr>
        <p:spPr>
          <a:xfrm>
            <a:off x="502920" y="2331720"/>
            <a:ext cx="5486400" cy="2788920"/>
          </a:xfrm>
          <a:prstGeom prst="roundRect">
            <a:avLst>
              <a:gd name="adj" fmla="val 10000"/>
            </a:avLst>
          </a:prstGeom>
          <a:solidFill>
            <a:srgbClr val="E9F1FB"/>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2331720"/>
            <a:ext cx="5486400" cy="54864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ÁP DỤNG TRONG PROJECT</a:t>
            </a:r>
          </a:p>
        </p:txBody>
      </p:sp>
      <p:sp>
        <p:nvSpPr>
          <p:cNvPr id="11" name="TextBox 10"/>
          <p:cNvSpPr txBox="1"/>
          <p:nvPr/>
        </p:nvSpPr>
        <p:spPr>
          <a:xfrm>
            <a:off x="685800" y="2990088"/>
            <a:ext cx="5120640" cy="2039111"/>
          </a:xfrm>
          <a:prstGeom prst="rect">
            <a:avLst/>
          </a:prstGeom>
          <a:noFill/>
        </p:spPr>
        <p:txBody>
          <a:bodyPr wrap="square" anchor="t" lIns="36576" rIns="36576" tIns="18288" bIns="18288">
            <a:spAutoFit/>
          </a:bodyPr>
          <a:lstStyle/>
          <a:p>
            <a:pPr algn="l"/>
            <a:r>
              <a:rPr sz="1150" b="1" i="0">
                <a:solidFill>
                  <a:srgbClr val="0F2A54"/>
                </a:solidFill>
                <a:latin typeface="Arial"/>
              </a:rPr>
              <a:t>•  </a:t>
            </a:r>
            <a:r>
              <a:rPr sz="1150" b="0" i="0">
                <a:solidFill>
                  <a:srgbClr val="222A33"/>
                </a:solidFill>
                <a:latin typeface="Arial"/>
              </a:rPr>
              <a:t>Mật khẩu băm bcrypt (10 salt rounds); email validate 2 phía</a:t>
            </a:r>
          </a:p>
          <a:p>
            <a:pPr algn="l"/>
            <a:r>
              <a:rPr sz="1150" b="1" i="0">
                <a:solidFill>
                  <a:srgbClr val="0F2A54"/>
                </a:solidFill>
                <a:latin typeface="Arial"/>
              </a:rPr>
              <a:t>•  </a:t>
            </a:r>
            <a:r>
              <a:rPr sz="1150" b="0" i="0">
                <a:solidFill>
                  <a:srgbClr val="222A33"/>
                </a:solidFill>
                <a:latin typeface="Arial"/>
              </a:rPr>
              <a:t>Access token 15' + refresh token 7 ngày (lưu DB, rotate mỗi lần refresh)</a:t>
            </a:r>
          </a:p>
          <a:p>
            <a:pPr algn="l"/>
            <a:r>
              <a:rPr sz="1150" b="1" i="0">
                <a:solidFill>
                  <a:srgbClr val="0F2A54"/>
                </a:solidFill>
                <a:latin typeface="Arial"/>
              </a:rPr>
              <a:t>•  </a:t>
            </a:r>
            <a:r>
              <a:rPr sz="1150" b="0" i="0">
                <a:solidFill>
                  <a:srgbClr val="222A33"/>
                </a:solidFill>
                <a:latin typeface="Arial"/>
              </a:rPr>
              <a:t>Middleware JWT chặn mọi route /api/sensor · /alerts · /settings</a:t>
            </a:r>
          </a:p>
          <a:p>
            <a:pPr algn="l"/>
            <a:r>
              <a:rPr sz="1150" b="1" i="0">
                <a:solidFill>
                  <a:srgbClr val="0F2A54"/>
                </a:solidFill>
                <a:latin typeface="Arial"/>
              </a:rPr>
              <a:t>•  </a:t>
            </a:r>
            <a:r>
              <a:rPr sz="1150" b="0" i="0">
                <a:solidFill>
                  <a:srgbClr val="222A33"/>
                </a:solidFill>
                <a:latin typeface="Arial"/>
              </a:rPr>
              <a:t>Rate-limit tách nhóm: /api/auth 30 req/15' chống brute-force</a:t>
            </a:r>
          </a:p>
          <a:p>
            <a:pPr algn="l"/>
            <a:r>
              <a:rPr sz="1150" b="1" i="0">
                <a:solidFill>
                  <a:srgbClr val="0F2A54"/>
                </a:solidFill>
                <a:latin typeface="Arial"/>
              </a:rPr>
              <a:t>•  </a:t>
            </a:r>
            <a:r>
              <a:rPr sz="1150" b="0" i="0">
                <a:solidFill>
                  <a:srgbClr val="222A33"/>
                </a:solidFill>
                <a:latin typeface="Arial"/>
              </a:rPr>
              <a:t>Tự đăng xuất sau 1h + header Cache-Control: no-store</a:t>
            </a:r>
          </a:p>
        </p:txBody>
      </p:sp>
      <p:sp>
        <p:nvSpPr>
          <p:cNvPr id="12" name="Rounded Rectangle 11"/>
          <p:cNvSpPr/>
          <p:nvPr/>
        </p:nvSpPr>
        <p:spPr>
          <a:xfrm>
            <a:off x="6236208" y="2331720"/>
            <a:ext cx="5468112" cy="2788920"/>
          </a:xfrm>
          <a:prstGeom prst="roundRect">
            <a:avLst>
              <a:gd name="adj" fmla="val 10000"/>
            </a:avLst>
          </a:prstGeom>
          <a:solidFill>
            <a:srgbClr val="E4F5EA"/>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236208" y="2331720"/>
            <a:ext cx="5468112" cy="548640"/>
          </a:xfrm>
          <a:prstGeom prst="roundRect">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CHỐNG ĐƯỢC TẤN CÔNG</a:t>
            </a:r>
          </a:p>
        </p:txBody>
      </p:sp>
      <p:sp>
        <p:nvSpPr>
          <p:cNvPr id="14" name="TextBox 13"/>
          <p:cNvSpPr txBox="1"/>
          <p:nvPr/>
        </p:nvSpPr>
        <p:spPr>
          <a:xfrm>
            <a:off x="6419088" y="2990088"/>
            <a:ext cx="5102352" cy="2039111"/>
          </a:xfrm>
          <a:prstGeom prst="rect">
            <a:avLst/>
          </a:prstGeom>
          <a:noFill/>
        </p:spPr>
        <p:txBody>
          <a:bodyPr wrap="square" anchor="t" lIns="36576" rIns="36576" tIns="18288" bIns="18288">
            <a:spAutoFit/>
          </a:bodyPr>
          <a:lstStyle/>
          <a:p>
            <a:pPr algn="l"/>
            <a:r>
              <a:rPr sz="1150" b="1" i="0">
                <a:solidFill>
                  <a:srgbClr val="1E9E4F"/>
                </a:solidFill>
                <a:latin typeface="Arial"/>
              </a:rPr>
              <a:t>•  </a:t>
            </a:r>
            <a:r>
              <a:rPr sz="1150" b="0" i="0">
                <a:solidFill>
                  <a:srgbClr val="222A33"/>
                </a:solidFill>
                <a:latin typeface="Arial"/>
              </a:rPr>
              <a:t>Truy cập API / dashboard khi chưa đăng nhập</a:t>
            </a:r>
          </a:p>
          <a:p>
            <a:pPr algn="l"/>
            <a:r>
              <a:rPr sz="1150" b="1" i="0">
                <a:solidFill>
                  <a:srgbClr val="1E9E4F"/>
                </a:solidFill>
                <a:latin typeface="Arial"/>
              </a:rPr>
              <a:t>•  </a:t>
            </a:r>
            <a:r>
              <a:rPr sz="1150" b="0" i="0">
                <a:solidFill>
                  <a:srgbClr val="222A33"/>
                </a:solidFill>
                <a:latin typeface="Arial"/>
              </a:rPr>
              <a:t>Dò mật khẩu hàng loạt (brute-force login)</a:t>
            </a:r>
          </a:p>
          <a:p>
            <a:pPr algn="l"/>
            <a:r>
              <a:rPr sz="1150" b="1" i="0">
                <a:solidFill>
                  <a:srgbClr val="1E9E4F"/>
                </a:solidFill>
                <a:latin typeface="Arial"/>
              </a:rPr>
              <a:t>•  </a:t>
            </a:r>
            <a:r>
              <a:rPr sz="1150" b="0" i="0">
                <a:solidFill>
                  <a:srgbClr val="222A33"/>
                </a:solidFill>
                <a:latin typeface="Arial"/>
              </a:rPr>
              <a:t>Tái sử dụng token bị lộ (nhờ rotate + thu hồi khi logout)</a:t>
            </a:r>
          </a:p>
          <a:p>
            <a:pPr algn="l"/>
            <a:r>
              <a:rPr sz="1150" b="1" i="0">
                <a:solidFill>
                  <a:srgbClr val="1E9E4F"/>
                </a:solidFill>
                <a:latin typeface="Arial"/>
              </a:rPr>
              <a:t>•  </a:t>
            </a:r>
            <a:r>
              <a:rPr sz="1150" b="0" i="0">
                <a:solidFill>
                  <a:srgbClr val="222A33"/>
                </a:solidFill>
                <a:latin typeface="Arial"/>
              </a:rPr>
              <a:t>Cache dữ liệu đã xác thực ở trình duyệt / proxy trung gian</a:t>
            </a:r>
          </a:p>
        </p:txBody>
      </p:sp>
      <p:sp>
        <p:nvSpPr>
          <p:cNvPr id="15" name="Rounded Rectangle 14"/>
          <p:cNvSpPr/>
          <p:nvPr/>
        </p:nvSpPr>
        <p:spPr>
          <a:xfrm>
            <a:off x="502920" y="5303520"/>
            <a:ext cx="11201400" cy="777240"/>
          </a:xfrm>
          <a:prstGeom prst="roundRect">
            <a:avLst>
              <a:gd name="adj" fmla="val 1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9EC4F0"/>
                </a:solidFill>
                <a:latin typeface="Arial"/>
              </a:rPr>
              <a:t>Vị trí trong code:  </a:t>
            </a:r>
            <a:r>
              <a:rPr sz="1100" b="0" i="0">
                <a:solidFill>
                  <a:srgbClr val="D7E3F2"/>
                </a:solidFill>
                <a:latin typeface="Arial"/>
              </a:rPr>
              <a:t>middleware/auth.js (verify JWT)   ·   routes/auth.js (bcrypt, rotate token)   ·   server.js (rate-limit, no-store)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PHƯƠNG THỨC GIAO TIẾP &amp; TRAO ĐỔI DỮ LIỆU</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7</a:t>
            </a:r>
          </a:p>
        </p:txBody>
      </p:sp>
      <p:sp>
        <p:nvSpPr>
          <p:cNvPr id="7" name="Rounded Rectangle 6"/>
          <p:cNvSpPr/>
          <p:nvPr/>
        </p:nvSpPr>
        <p:spPr>
          <a:xfrm>
            <a:off x="502920" y="1325880"/>
            <a:ext cx="5257800" cy="2926080"/>
          </a:xfrm>
          <a:prstGeom prst="roundRect">
            <a:avLst>
              <a:gd name="adj" fmla="val 10000"/>
            </a:avLst>
          </a:prstGeom>
          <a:solidFill>
            <a:srgbClr val="E9F1FB"/>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85800" y="1481328"/>
            <a:ext cx="4892040" cy="502920"/>
          </a:xfrm>
          <a:prstGeom prst="round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latin typeface="Arial"/>
              </a:rPr>
              <a:t>Thiết bị ↔ Cloud</a:t>
            </a:r>
          </a:p>
        </p:txBody>
      </p:sp>
      <p:sp>
        <p:nvSpPr>
          <p:cNvPr id="9" name="TextBox 8"/>
          <p:cNvSpPr txBox="1"/>
          <p:nvPr/>
        </p:nvSpPr>
        <p:spPr>
          <a:xfrm>
            <a:off x="731520" y="2103120"/>
            <a:ext cx="4892040" cy="2103120"/>
          </a:xfrm>
          <a:prstGeom prst="rect">
            <a:avLst/>
          </a:prstGeom>
          <a:noFill/>
        </p:spPr>
        <p:txBody>
          <a:bodyPr wrap="square" anchor="t" lIns="36576" rIns="36576" tIns="18288" bIns="18288">
            <a:spAutoFit/>
          </a:bodyPr>
          <a:lstStyle/>
          <a:p>
            <a:pPr algn="l"/>
            <a:r>
              <a:rPr sz="1150" b="1" i="0">
                <a:solidFill>
                  <a:srgbClr val="0F2A54"/>
                </a:solidFill>
                <a:latin typeface="Arial"/>
              </a:rPr>
              <a:t>Giao thức: </a:t>
            </a:r>
            <a:r>
              <a:rPr sz="1150" b="0" i="0">
                <a:solidFill>
                  <a:srgbClr val="222A33"/>
                </a:solidFill>
                <a:latin typeface="Arial"/>
              </a:rPr>
              <a:t>MQTT over TLS (mqtts)</a:t>
            </a:r>
          </a:p>
          <a:p>
            <a:pPr algn="l"/>
            <a:r>
              <a:rPr sz="1150" b="1" i="0">
                <a:solidFill>
                  <a:srgbClr val="0F2A54"/>
                </a:solidFill>
                <a:latin typeface="Arial"/>
              </a:rPr>
              <a:t>Mô hình: </a:t>
            </a:r>
            <a:r>
              <a:rPr sz="1150" b="0" i="0">
                <a:solidFill>
                  <a:srgbClr val="222A33"/>
                </a:solidFill>
                <a:latin typeface="Arial"/>
              </a:rPr>
              <a:t>Publish / Subscribe</a:t>
            </a:r>
          </a:p>
          <a:p>
            <a:pPr algn="l"/>
            <a:r>
              <a:rPr sz="1150" b="1" i="0">
                <a:solidFill>
                  <a:srgbClr val="0F2A54"/>
                </a:solidFill>
                <a:latin typeface="Arial"/>
              </a:rPr>
              <a:t>Broker: </a:t>
            </a:r>
            <a:r>
              <a:rPr sz="1150" b="0" i="0">
                <a:solidFill>
                  <a:srgbClr val="222A33"/>
                </a:solidFill>
                <a:latin typeface="Arial"/>
              </a:rPr>
              <a:t>HiveMQ Cloud — cổng 8883 (TLS)</a:t>
            </a:r>
          </a:p>
          <a:p>
            <a:pPr algn="l"/>
            <a:r>
              <a:rPr sz="1150" b="1" i="0">
                <a:solidFill>
                  <a:srgbClr val="0F2A54"/>
                </a:solidFill>
                <a:latin typeface="Arial"/>
              </a:rPr>
              <a:t>Topic: </a:t>
            </a:r>
            <a:r>
              <a:rPr sz="1150" b="0" i="0">
                <a:solidFill>
                  <a:srgbClr val="222A33"/>
                </a:solidFill>
                <a:latin typeface="Arial"/>
              </a:rPr>
              <a:t>iot/airquality/room1</a:t>
            </a:r>
          </a:p>
          <a:p>
            <a:pPr algn="l"/>
            <a:r>
              <a:rPr sz="900" b="0" i="0">
                <a:solidFill>
                  <a:srgbClr val="222A33"/>
                </a:solidFill>
                <a:latin typeface="Arial"/>
              </a:rPr>
              <a:t>           </a:t>
            </a:r>
            <a:r>
              <a:rPr sz="950" b="0" i="1">
                <a:solidFill>
                  <a:srgbClr val="5B6672"/>
                </a:solidFill>
                <a:latin typeface="Arial"/>
              </a:rPr>
              <a:t>(backend subscribe iot/airquality/#)</a:t>
            </a:r>
          </a:p>
          <a:p>
            <a:pPr algn="l"/>
            <a:r>
              <a:rPr sz="1150" b="1" i="0">
                <a:solidFill>
                  <a:srgbClr val="0F2A54"/>
                </a:solidFill>
                <a:latin typeface="Arial"/>
              </a:rPr>
              <a:t>QoS: </a:t>
            </a:r>
            <a:r>
              <a:rPr sz="1150" b="0" i="0">
                <a:solidFill>
                  <a:srgbClr val="222A33"/>
                </a:solidFill>
                <a:latin typeface="Arial"/>
              </a:rPr>
              <a:t>1 — at least once</a:t>
            </a:r>
          </a:p>
          <a:p>
            <a:pPr algn="l"/>
            <a:r>
              <a:rPr sz="1150" b="1" i="0">
                <a:solidFill>
                  <a:srgbClr val="0F2A54"/>
                </a:solidFill>
                <a:latin typeface="Arial"/>
              </a:rPr>
              <a:t>Chiều: </a:t>
            </a:r>
            <a:r>
              <a:rPr sz="1150" b="0" i="0">
                <a:solidFill>
                  <a:srgbClr val="222A33"/>
                </a:solidFill>
                <a:latin typeface="Arial"/>
              </a:rPr>
              <a:t>ESP32 → Broker → Backend (1 chiều đẩy)</a:t>
            </a:r>
          </a:p>
        </p:txBody>
      </p:sp>
      <p:sp>
        <p:nvSpPr>
          <p:cNvPr id="10" name="Rounded Rectangle 9"/>
          <p:cNvSpPr/>
          <p:nvPr/>
        </p:nvSpPr>
        <p:spPr>
          <a:xfrm>
            <a:off x="6400800" y="1325880"/>
            <a:ext cx="5257800" cy="2926080"/>
          </a:xfrm>
          <a:prstGeom prst="roundRect">
            <a:avLst>
              <a:gd name="adj" fmla="val 10000"/>
            </a:avLst>
          </a:prstGeom>
          <a:solidFill>
            <a:srgbClr val="D3E4F7"/>
          </a:solidFill>
          <a:ln w="1778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583680" y="1481328"/>
            <a:ext cx="4892040" cy="502920"/>
          </a:xfrm>
          <a:prstGeom prst="round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latin typeface="Arial"/>
              </a:rPr>
              <a:t>Dashboard ↔ Backend</a:t>
            </a:r>
          </a:p>
        </p:txBody>
      </p:sp>
      <p:sp>
        <p:nvSpPr>
          <p:cNvPr id="12" name="TextBox 11"/>
          <p:cNvSpPr txBox="1"/>
          <p:nvPr/>
        </p:nvSpPr>
        <p:spPr>
          <a:xfrm>
            <a:off x="6629400" y="2103120"/>
            <a:ext cx="4892040" cy="2103120"/>
          </a:xfrm>
          <a:prstGeom prst="rect">
            <a:avLst/>
          </a:prstGeom>
          <a:noFill/>
        </p:spPr>
        <p:txBody>
          <a:bodyPr wrap="square" anchor="t" lIns="36576" rIns="36576" tIns="18288" bIns="18288">
            <a:spAutoFit/>
          </a:bodyPr>
          <a:lstStyle/>
          <a:p>
            <a:pPr algn="l"/>
            <a:r>
              <a:rPr sz="1150" b="1" i="0">
                <a:solidFill>
                  <a:srgbClr val="0F2A54"/>
                </a:solidFill>
                <a:latin typeface="Arial"/>
              </a:rPr>
              <a:t>Giao thức: </a:t>
            </a:r>
            <a:r>
              <a:rPr sz="1150" b="0" i="0">
                <a:solidFill>
                  <a:srgbClr val="222A33"/>
                </a:solidFill>
                <a:latin typeface="Arial"/>
              </a:rPr>
              <a:t>REST API qua HTTP(S)</a:t>
            </a:r>
          </a:p>
          <a:p>
            <a:pPr algn="l"/>
            <a:r>
              <a:rPr sz="1150" b="1" i="0">
                <a:solidFill>
                  <a:srgbClr val="0F2A54"/>
                </a:solidFill>
                <a:latin typeface="Arial"/>
              </a:rPr>
              <a:t>Mô hình: </a:t>
            </a:r>
            <a:r>
              <a:rPr sz="1150" b="0" i="0">
                <a:solidFill>
                  <a:srgbClr val="222A33"/>
                </a:solidFill>
                <a:latin typeface="Arial"/>
              </a:rPr>
              <a:t>Request / Response (polling 5s)</a:t>
            </a:r>
          </a:p>
          <a:p>
            <a:pPr algn="l"/>
            <a:r>
              <a:rPr sz="1150" b="1" i="0">
                <a:solidFill>
                  <a:srgbClr val="0F2A54"/>
                </a:solidFill>
                <a:latin typeface="Arial"/>
              </a:rPr>
              <a:t>Xác thực: </a:t>
            </a:r>
            <a:r>
              <a:rPr sz="1150" b="0" i="0">
                <a:solidFill>
                  <a:srgbClr val="222A33"/>
                </a:solidFill>
                <a:latin typeface="Arial"/>
              </a:rPr>
              <a:t>JWT Bearer (access + refresh)</a:t>
            </a:r>
          </a:p>
          <a:p>
            <a:pPr algn="l"/>
            <a:r>
              <a:rPr sz="1150" b="1" i="0">
                <a:solidFill>
                  <a:srgbClr val="0F2A54"/>
                </a:solidFill>
                <a:latin typeface="Arial"/>
              </a:rPr>
              <a:t>Endpoint: </a:t>
            </a:r>
            <a:r>
              <a:rPr sz="1150" b="0" i="0">
                <a:solidFill>
                  <a:srgbClr val="222A33"/>
                </a:solidFill>
                <a:latin typeface="Arial"/>
              </a:rPr>
              <a:t>/api/auth · /api/sensor</a:t>
            </a:r>
          </a:p>
          <a:p>
            <a:pPr algn="l"/>
            <a:r>
              <a:rPr sz="900" b="0" i="0">
                <a:solidFill>
                  <a:srgbClr val="222A33"/>
                </a:solidFill>
                <a:latin typeface="Arial"/>
              </a:rPr>
              <a:t>               </a:t>
            </a:r>
            <a:r>
              <a:rPr sz="1150" b="0" i="0">
                <a:solidFill>
                  <a:srgbClr val="222A33"/>
                </a:solidFill>
                <a:latin typeface="Arial"/>
              </a:rPr>
              <a:t>/api/alerts · /api/settings</a:t>
            </a:r>
          </a:p>
          <a:p>
            <a:pPr algn="l"/>
            <a:r>
              <a:rPr sz="1150" b="1" i="0">
                <a:solidFill>
                  <a:srgbClr val="0F2A54"/>
                </a:solidFill>
                <a:latin typeface="Arial"/>
              </a:rPr>
              <a:t>Định dạng: </a:t>
            </a:r>
            <a:r>
              <a:rPr sz="1100" b="0" i="0">
                <a:solidFill>
                  <a:srgbClr val="222A33"/>
                </a:solidFill>
                <a:latin typeface="Arial"/>
              </a:rPr>
              <a:t>JSON · header Cache-Control: no-store</a:t>
            </a:r>
          </a:p>
          <a:p>
            <a:pPr algn="l"/>
            <a:r>
              <a:rPr sz="1150" b="1" i="0">
                <a:solidFill>
                  <a:srgbClr val="0F2A54"/>
                </a:solidFill>
                <a:latin typeface="Arial"/>
              </a:rPr>
              <a:t>Chiều: </a:t>
            </a:r>
            <a:r>
              <a:rPr sz="1150" b="0" i="0">
                <a:solidFill>
                  <a:srgbClr val="222A33"/>
                </a:solidFill>
                <a:latin typeface="Arial"/>
              </a:rPr>
              <a:t>Dashboard ⇄ Backend (2 chiều, có query)</a:t>
            </a:r>
          </a:p>
        </p:txBody>
      </p:sp>
      <p:sp>
        <p:nvSpPr>
          <p:cNvPr id="13" name="Rounded Rectangle 12"/>
          <p:cNvSpPr/>
          <p:nvPr/>
        </p:nvSpPr>
        <p:spPr>
          <a:xfrm>
            <a:off x="502920" y="4480560"/>
            <a:ext cx="11155680" cy="1691640"/>
          </a:xfrm>
          <a:prstGeom prst="roundRect">
            <a:avLst>
              <a:gd name="adj" fmla="val 1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50" b="1" i="0">
                <a:solidFill>
                  <a:srgbClr val="9EC4F0"/>
                </a:solidFill>
                <a:latin typeface="Arial"/>
              </a:rPr>
              <a:t>Ví dụ payload cảm biến (JSON) publish lên topic:</a:t>
            </a:r>
          </a:p>
          <a:p>
            <a:pPr algn="l"/>
            <a:r>
              <a:rPr sz="1200" b="0" i="0">
                <a:solidFill>
                  <a:srgbClr val="FFFFFF"/>
                </a:solidFill>
                <a:latin typeface="Arial"/>
              </a:rPr>
              <a:t>{</a:t>
            </a:r>
          </a:p>
          <a:p>
            <a:pPr algn="l"/>
            <a:r>
              <a:rPr sz="1200" b="0" i="0">
                <a:solidFill>
                  <a:srgbClr val="BFE0FF"/>
                </a:solidFill>
                <a:latin typeface="Arial"/>
              </a:rPr>
              <a:t>   "device_id": "esp32-room1",   "api_key": "••••••",   "temperature": 24.0,   "humidity": 40.0,   "co2": 624</a:t>
            </a:r>
          </a:p>
          <a:p>
            <a:pPr algn="l"/>
            <a:r>
              <a:rPr sz="1200" b="0" i="0">
                <a:solidFill>
                  <a:srgbClr val="FFFFFF"/>
                </a:solidFill>
                <a:latin typeface="Aria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KẾT QUẢ ĐẠT ĐƯỢC</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17</a:t>
            </a:r>
          </a:p>
        </p:txBody>
      </p:sp>
      <p:sp>
        <p:nvSpPr>
          <p:cNvPr id="7" name="Rounded Rectangle 6"/>
          <p:cNvSpPr/>
          <p:nvPr/>
        </p:nvSpPr>
        <p:spPr>
          <a:xfrm>
            <a:off x="502920" y="1371600"/>
            <a:ext cx="3566160" cy="1097280"/>
          </a:xfrm>
          <a:prstGeom prst="roundRect">
            <a:avLst>
              <a:gd name="adj" fmla="val 10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000" b="1" i="0">
                <a:solidFill>
                  <a:srgbClr val="FFFFFF"/>
                </a:solidFill>
                <a:latin typeface="Arial"/>
              </a:rPr>
              <a:t>3  </a:t>
            </a:r>
            <a:r>
              <a:rPr sz="1200" b="0" i="0">
                <a:solidFill>
                  <a:srgbClr val="CFDDF0"/>
                </a:solidFill>
                <a:latin typeface="Arial"/>
              </a:rPr>
              <a:t>lớp bảo mật độc lập</a:t>
            </a:r>
          </a:p>
        </p:txBody>
      </p:sp>
      <p:sp>
        <p:nvSpPr>
          <p:cNvPr id="8" name="Rounded Rectangle 7"/>
          <p:cNvSpPr/>
          <p:nvPr/>
        </p:nvSpPr>
        <p:spPr>
          <a:xfrm>
            <a:off x="4325112" y="1371600"/>
            <a:ext cx="3566160" cy="1097280"/>
          </a:xfrm>
          <a:prstGeom prst="roundRect">
            <a:avLst>
              <a:gd name="adj" fmla="val 10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000" b="1" i="0">
                <a:solidFill>
                  <a:srgbClr val="FFFFFF"/>
                </a:solidFill>
                <a:latin typeface="Arial"/>
              </a:rPr>
              <a:t>5  </a:t>
            </a:r>
            <a:r>
              <a:rPr sz="1200" b="0" i="0">
                <a:solidFill>
                  <a:srgbClr val="CFDDF0"/>
                </a:solidFill>
                <a:latin typeface="Arial"/>
              </a:rPr>
              <a:t>tab chức năng dashboard</a:t>
            </a:r>
          </a:p>
        </p:txBody>
      </p:sp>
      <p:sp>
        <p:nvSpPr>
          <p:cNvPr id="9" name="Rounded Rectangle 8"/>
          <p:cNvSpPr/>
          <p:nvPr/>
        </p:nvSpPr>
        <p:spPr>
          <a:xfrm>
            <a:off x="8147304" y="1371600"/>
            <a:ext cx="3566160" cy="1097280"/>
          </a:xfrm>
          <a:prstGeom prst="roundRect">
            <a:avLst>
              <a:gd name="adj" fmla="val 10000"/>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000" b="1" i="0">
                <a:solidFill>
                  <a:srgbClr val="FFFFFF"/>
                </a:solidFill>
                <a:latin typeface="Arial"/>
              </a:rPr>
              <a:t>5s  </a:t>
            </a:r>
            <a:r>
              <a:rPr sz="1200" b="0" i="0">
                <a:solidFill>
                  <a:srgbClr val="CFDDF0"/>
                </a:solidFill>
                <a:latin typeface="Arial"/>
              </a:rPr>
              <a:t>chu kỳ đo &amp; cập nhật</a:t>
            </a:r>
          </a:p>
        </p:txBody>
      </p:sp>
      <p:sp>
        <p:nvSpPr>
          <p:cNvPr id="10" name="Oval 9"/>
          <p:cNvSpPr/>
          <p:nvPr/>
        </p:nvSpPr>
        <p:spPr>
          <a:xfrm>
            <a:off x="548640" y="2788920"/>
            <a:ext cx="420624" cy="420624"/>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Arial"/>
              </a:rPr>
              <a:t>✓</a:t>
            </a:r>
          </a:p>
        </p:txBody>
      </p:sp>
      <p:sp>
        <p:nvSpPr>
          <p:cNvPr id="11" name="TextBox 10"/>
          <p:cNvSpPr txBox="1"/>
          <p:nvPr/>
        </p:nvSpPr>
        <p:spPr>
          <a:xfrm>
            <a:off x="1143000" y="2743200"/>
            <a:ext cx="10424160" cy="502920"/>
          </a:xfrm>
          <a:prstGeom prst="rect">
            <a:avLst/>
          </a:prstGeom>
          <a:noFill/>
        </p:spPr>
        <p:txBody>
          <a:bodyPr wrap="square" anchor="ctr" lIns="36576" rIns="36576" tIns="18288" bIns="18288">
            <a:spAutoFit/>
          </a:bodyPr>
          <a:lstStyle/>
          <a:p>
            <a:pPr algn="l"/>
            <a:r>
              <a:rPr sz="1300" b="0" i="0">
                <a:solidFill>
                  <a:srgbClr val="222A33"/>
                </a:solidFill>
                <a:latin typeface="Arial"/>
              </a:rPr>
              <a:t>Pipeline hoàn chỉnh: ESP32 → MQTT/TLS → Backend → MongoDB → Dashboard</a:t>
            </a:r>
          </a:p>
        </p:txBody>
      </p:sp>
      <p:sp>
        <p:nvSpPr>
          <p:cNvPr id="12" name="Oval 11"/>
          <p:cNvSpPr/>
          <p:nvPr/>
        </p:nvSpPr>
        <p:spPr>
          <a:xfrm>
            <a:off x="548640" y="3447287"/>
            <a:ext cx="420624" cy="420624"/>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Arial"/>
              </a:rPr>
              <a:t>✓</a:t>
            </a:r>
          </a:p>
        </p:txBody>
      </p:sp>
      <p:sp>
        <p:nvSpPr>
          <p:cNvPr id="13" name="TextBox 12"/>
          <p:cNvSpPr txBox="1"/>
          <p:nvPr/>
        </p:nvSpPr>
        <p:spPr>
          <a:xfrm>
            <a:off x="1143000" y="3401568"/>
            <a:ext cx="10424160" cy="502920"/>
          </a:xfrm>
          <a:prstGeom prst="rect">
            <a:avLst/>
          </a:prstGeom>
          <a:noFill/>
        </p:spPr>
        <p:txBody>
          <a:bodyPr wrap="square" anchor="ctr" lIns="36576" rIns="36576" tIns="18288" bIns="18288">
            <a:spAutoFit/>
          </a:bodyPr>
          <a:lstStyle/>
          <a:p>
            <a:pPr algn="l"/>
            <a:r>
              <a:rPr sz="1300" b="0" i="0">
                <a:solidFill>
                  <a:srgbClr val="222A33"/>
                </a:solidFill>
                <a:latin typeface="Arial"/>
              </a:rPr>
              <a:t>Cảnh báo tự động, chống trùng lặp nhờ cơ chế cooldown 5 phút</a:t>
            </a:r>
          </a:p>
        </p:txBody>
      </p:sp>
      <p:sp>
        <p:nvSpPr>
          <p:cNvPr id="14" name="Oval 13"/>
          <p:cNvSpPr/>
          <p:nvPr/>
        </p:nvSpPr>
        <p:spPr>
          <a:xfrm>
            <a:off x="548640" y="4105656"/>
            <a:ext cx="420624" cy="420624"/>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Arial"/>
              </a:rPr>
              <a:t>✓</a:t>
            </a:r>
          </a:p>
        </p:txBody>
      </p:sp>
      <p:sp>
        <p:nvSpPr>
          <p:cNvPr id="15" name="TextBox 14"/>
          <p:cNvSpPr txBox="1"/>
          <p:nvPr/>
        </p:nvSpPr>
        <p:spPr>
          <a:xfrm>
            <a:off x="1143000" y="4059936"/>
            <a:ext cx="10424160" cy="502920"/>
          </a:xfrm>
          <a:prstGeom prst="rect">
            <a:avLst/>
          </a:prstGeom>
          <a:noFill/>
        </p:spPr>
        <p:txBody>
          <a:bodyPr wrap="square" anchor="ctr" lIns="36576" rIns="36576" tIns="18288" bIns="18288">
            <a:spAutoFit/>
          </a:bodyPr>
          <a:lstStyle/>
          <a:p>
            <a:pPr algn="l"/>
            <a:r>
              <a:rPr sz="1300" b="0" i="0">
                <a:solidFill>
                  <a:srgbClr val="222A33"/>
                </a:solidFill>
                <a:latin typeface="Arial"/>
              </a:rPr>
              <a:t>Dashboard trực quan: gauge, mini-chart, thống kê cảnh báo nhiều dạng biểu đồ</a:t>
            </a:r>
          </a:p>
        </p:txBody>
      </p:sp>
      <p:sp>
        <p:nvSpPr>
          <p:cNvPr id="16" name="Oval 15"/>
          <p:cNvSpPr/>
          <p:nvPr/>
        </p:nvSpPr>
        <p:spPr>
          <a:xfrm>
            <a:off x="548640" y="4764024"/>
            <a:ext cx="420624" cy="420624"/>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Arial"/>
              </a:rPr>
              <a:t>✓</a:t>
            </a:r>
          </a:p>
        </p:txBody>
      </p:sp>
      <p:sp>
        <p:nvSpPr>
          <p:cNvPr id="17" name="TextBox 16"/>
          <p:cNvSpPr txBox="1"/>
          <p:nvPr/>
        </p:nvSpPr>
        <p:spPr>
          <a:xfrm>
            <a:off x="1143000" y="4718304"/>
            <a:ext cx="10424160" cy="502920"/>
          </a:xfrm>
          <a:prstGeom prst="rect">
            <a:avLst/>
          </a:prstGeom>
          <a:noFill/>
        </p:spPr>
        <p:txBody>
          <a:bodyPr wrap="square" anchor="ctr" lIns="36576" rIns="36576" tIns="18288" bIns="18288">
            <a:spAutoFit/>
          </a:bodyPr>
          <a:lstStyle/>
          <a:p>
            <a:pPr algn="l"/>
            <a:r>
              <a:rPr sz="1300" b="0" i="0">
                <a:solidFill>
                  <a:srgbClr val="222A33"/>
                </a:solidFill>
                <a:latin typeface="Arial"/>
              </a:rPr>
              <a:t>Hệ thống tài khoản đầy đủ + bảo mật 3 lớp end-to-end</a:t>
            </a:r>
          </a:p>
        </p:txBody>
      </p:sp>
      <p:sp>
        <p:nvSpPr>
          <p:cNvPr id="18" name="Oval 17"/>
          <p:cNvSpPr/>
          <p:nvPr/>
        </p:nvSpPr>
        <p:spPr>
          <a:xfrm>
            <a:off x="548640" y="5422392"/>
            <a:ext cx="420624" cy="420624"/>
          </a:xfrm>
          <a:prstGeom prst="ellipse">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Arial"/>
              </a:rPr>
              <a:t>✓</a:t>
            </a:r>
          </a:p>
        </p:txBody>
      </p:sp>
      <p:sp>
        <p:nvSpPr>
          <p:cNvPr id="19" name="TextBox 18"/>
          <p:cNvSpPr txBox="1"/>
          <p:nvPr/>
        </p:nvSpPr>
        <p:spPr>
          <a:xfrm>
            <a:off x="1143000" y="5376672"/>
            <a:ext cx="10424160" cy="502920"/>
          </a:xfrm>
          <a:prstGeom prst="rect">
            <a:avLst/>
          </a:prstGeom>
          <a:noFill/>
        </p:spPr>
        <p:txBody>
          <a:bodyPr wrap="square" anchor="ctr" lIns="36576" rIns="36576" tIns="18288" bIns="18288">
            <a:spAutoFit/>
          </a:bodyPr>
          <a:lstStyle/>
          <a:p>
            <a:pPr algn="l"/>
            <a:r>
              <a:rPr sz="1300" b="0" i="0">
                <a:solidFill>
                  <a:srgbClr val="222A33"/>
                </a:solidFill>
                <a:latin typeface="Arial"/>
              </a:rPr>
              <a:t>Đã kiểm thử end-to-end qua curl và thao tác thực tế trên giao diện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0F2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54864" tIns="27432" bIns="27432"/>
          <a:lstStyle/>
          <a:p>
            <a:pPr algn="l"/>
            <a:r>
              <a:rPr sz="2500" b="1" i="0">
                <a:solidFill>
                  <a:srgbClr val="FFFFFF"/>
                </a:solidFill>
                <a:latin typeface="Arial"/>
              </a:rPr>
              <a:t>HẠN CHẾ &amp; HƯỚNG PHÁT TRIỂN</a:t>
            </a:r>
          </a:p>
        </p:txBody>
      </p:sp>
      <p:sp>
        <p:nvSpPr>
          <p:cNvPr id="3" name="Rectangle 2"/>
          <p:cNvSpPr/>
          <p:nvPr/>
        </p:nvSpPr>
        <p:spPr>
          <a:xfrm>
            <a:off x="0" y="841248"/>
            <a:ext cx="12191695" cy="256032"/>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7315200" cy="320040"/>
          </a:xfrm>
          <a:prstGeom prst="rect">
            <a:avLst/>
          </a:prstGeom>
          <a:noFill/>
        </p:spPr>
        <p:txBody>
          <a:bodyPr wrap="square" anchor="t" lIns="36576" rIns="36576" tIns="18288" bIns="18288">
            <a:spAutoFit/>
          </a:bodyPr>
          <a:lstStyle/>
          <a:p>
            <a:pPr algn="l"/>
            <a:r>
              <a:rPr sz="900" b="1" i="0">
                <a:solidFill>
                  <a:srgbClr val="0F2A54"/>
                </a:solidFill>
                <a:latin typeface="Arial"/>
              </a:rPr>
              <a:t>ĐẠI HỌC BÁCH KHOA HÀ NỘI</a:t>
            </a:r>
          </a:p>
          <a:p>
            <a:pPr algn="l"/>
            <a:r>
              <a:rPr sz="600" b="0" i="0">
                <a:solidFill>
                  <a:srgbClr val="5B6672"/>
                </a:solidFill>
                <a:latin typeface="Arial"/>
              </a:rPr>
              <a:t>HANOI UNIVERSITY OF SCIENCE AND TECHNOLOGY</a:t>
            </a:r>
          </a:p>
        </p:txBody>
      </p:sp>
      <p:sp>
        <p:nvSpPr>
          <p:cNvPr id="5" name="Rectangle 4"/>
          <p:cNvSpPr/>
          <p:nvPr/>
        </p:nvSpPr>
        <p:spPr>
          <a:xfrm>
            <a:off x="4023360" y="6537960"/>
            <a:ext cx="7635240" cy="18288"/>
          </a:xfrm>
          <a:prstGeom prst="rect">
            <a:avLst/>
          </a:prstGeom>
          <a:solidFill>
            <a:srgbClr val="C41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640080" cy="274320"/>
          </a:xfrm>
          <a:prstGeom prst="rect">
            <a:avLst/>
          </a:prstGeom>
          <a:noFill/>
        </p:spPr>
        <p:txBody>
          <a:bodyPr wrap="square" anchor="t" lIns="36576" rIns="36576" tIns="18288" bIns="18288">
            <a:spAutoFit/>
          </a:bodyPr>
          <a:lstStyle/>
          <a:p>
            <a:pPr algn="r"/>
            <a:r>
              <a:rPr sz="1000" b="0" i="0">
                <a:solidFill>
                  <a:srgbClr val="5B6672"/>
                </a:solidFill>
                <a:latin typeface="Arial"/>
              </a:rPr>
              <a:t>18</a:t>
            </a:r>
          </a:p>
        </p:txBody>
      </p:sp>
      <p:sp>
        <p:nvSpPr>
          <p:cNvPr id="7" name="Rounded Rectangle 6"/>
          <p:cNvSpPr/>
          <p:nvPr/>
        </p:nvSpPr>
        <p:spPr>
          <a:xfrm>
            <a:off x="502920" y="1371600"/>
            <a:ext cx="5468112" cy="4572000"/>
          </a:xfrm>
          <a:prstGeom prst="roundRect">
            <a:avLst>
              <a:gd name="adj" fmla="val 10000"/>
            </a:avLst>
          </a:prstGeom>
          <a:solidFill>
            <a:srgbClr val="FDF3DE"/>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02920" y="1371600"/>
            <a:ext cx="5468112" cy="548640"/>
          </a:xfrm>
          <a:prstGeom prst="roundRect">
            <a:avLst/>
          </a:prstGeom>
          <a:solidFill>
            <a:srgbClr val="E89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HẠN CHẾ</a:t>
            </a:r>
          </a:p>
        </p:txBody>
      </p:sp>
      <p:sp>
        <p:nvSpPr>
          <p:cNvPr id="9" name="TextBox 8"/>
          <p:cNvSpPr txBox="1"/>
          <p:nvPr/>
        </p:nvSpPr>
        <p:spPr>
          <a:xfrm>
            <a:off x="685800" y="2029968"/>
            <a:ext cx="5102352" cy="3822192"/>
          </a:xfrm>
          <a:prstGeom prst="rect">
            <a:avLst/>
          </a:prstGeom>
          <a:noFill/>
        </p:spPr>
        <p:txBody>
          <a:bodyPr wrap="square" anchor="t" lIns="36576" rIns="36576" tIns="18288" bIns="18288">
            <a:spAutoFit/>
          </a:bodyPr>
          <a:lstStyle/>
          <a:p>
            <a:pPr algn="l"/>
            <a:r>
              <a:rPr sz="1150" b="1" i="0">
                <a:solidFill>
                  <a:srgbClr val="E89A11"/>
                </a:solidFill>
                <a:latin typeface="Arial"/>
              </a:rPr>
              <a:t>•  </a:t>
            </a:r>
            <a:r>
              <a:rPr sz="1150" b="0" i="0">
                <a:solidFill>
                  <a:srgbClr val="222A33"/>
                </a:solidFill>
                <a:latin typeface="Arial"/>
              </a:rPr>
              <a:t>CO₂ giả lập bằng biến trở — chưa dùng cảm biến khí thật</a:t>
            </a:r>
          </a:p>
          <a:p>
            <a:pPr algn="l"/>
            <a:r>
              <a:rPr sz="1150" b="1" i="0">
                <a:solidFill>
                  <a:srgbClr val="E89A11"/>
                </a:solidFill>
                <a:latin typeface="Arial"/>
              </a:rPr>
              <a:t>•  </a:t>
            </a:r>
            <a:r>
              <a:rPr sz="1150" b="0" i="0">
                <a:solidFill>
                  <a:srgbClr val="222A33"/>
                </a:solidFill>
                <a:latin typeface="Arial"/>
              </a:rPr>
              <a:t>Chưa có Mobile App (web đã responsive, dùng tạm trên di động)</a:t>
            </a:r>
          </a:p>
          <a:p>
            <a:pPr algn="l"/>
            <a:r>
              <a:rPr sz="1150" b="1" i="0">
                <a:solidFill>
                  <a:srgbClr val="E89A11"/>
                </a:solidFill>
                <a:latin typeface="Arial"/>
              </a:rPr>
              <a:t>•  </a:t>
            </a:r>
            <a:r>
              <a:rPr sz="1150" b="0" i="0">
                <a:solidFill>
                  <a:srgbClr val="222A33"/>
                </a:solidFill>
                <a:latin typeface="Arial"/>
              </a:rPr>
              <a:t>Dashboard polling 5s — chưa đẩy realtime bằng WebSocket/SSE</a:t>
            </a:r>
          </a:p>
          <a:p>
            <a:pPr algn="l"/>
            <a:r>
              <a:rPr sz="1150" b="1" i="0">
                <a:solidFill>
                  <a:srgbClr val="E89A11"/>
                </a:solidFill>
                <a:latin typeface="Arial"/>
              </a:rPr>
              <a:t>•  </a:t>
            </a:r>
            <a:r>
              <a:rPr sz="1150" b="0" i="0">
                <a:solidFill>
                  <a:srgbClr val="222A33"/>
                </a:solidFill>
                <a:latin typeface="Arial"/>
              </a:rPr>
              <a:t>Chưa xác thực email thật; credential còn để trong .env/firmware</a:t>
            </a:r>
          </a:p>
          <a:p>
            <a:pPr algn="l"/>
            <a:r>
              <a:rPr sz="1150" b="1" i="0">
                <a:solidFill>
                  <a:srgbClr val="E89A11"/>
                </a:solidFill>
                <a:latin typeface="Arial"/>
              </a:rPr>
              <a:t>•  </a:t>
            </a:r>
            <a:r>
              <a:rPr sz="1150" b="0" i="0">
                <a:solidFill>
                  <a:srgbClr val="222A33"/>
                </a:solidFill>
                <a:latin typeface="Arial"/>
              </a:rPr>
              <a:t>Mới hỗ trợ 1 thiết bị / 1 phòng</a:t>
            </a:r>
          </a:p>
        </p:txBody>
      </p:sp>
      <p:sp>
        <p:nvSpPr>
          <p:cNvPr id="10" name="Rounded Rectangle 9"/>
          <p:cNvSpPr/>
          <p:nvPr/>
        </p:nvSpPr>
        <p:spPr>
          <a:xfrm>
            <a:off x="6236208" y="1371600"/>
            <a:ext cx="5468112" cy="4572000"/>
          </a:xfrm>
          <a:prstGeom prst="roundRect">
            <a:avLst>
              <a:gd name="adj" fmla="val 10000"/>
            </a:avLst>
          </a:prstGeom>
          <a:solidFill>
            <a:srgbClr val="E4F5EA"/>
          </a:solidFill>
          <a:ln w="15240">
            <a:solidFill>
              <a:srgbClr val="2B5B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36208" y="1371600"/>
            <a:ext cx="5468112" cy="548640"/>
          </a:xfrm>
          <a:prstGeom prst="roundRect">
            <a:avLst/>
          </a:prstGeom>
          <a:solidFill>
            <a:srgbClr val="1E9E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latin typeface="Arial"/>
              </a:rPr>
              <a:t>HƯỚNG PHÁT TRIỂN</a:t>
            </a:r>
          </a:p>
        </p:txBody>
      </p:sp>
      <p:sp>
        <p:nvSpPr>
          <p:cNvPr id="12" name="TextBox 11"/>
          <p:cNvSpPr txBox="1"/>
          <p:nvPr/>
        </p:nvSpPr>
        <p:spPr>
          <a:xfrm>
            <a:off x="6419088" y="2029968"/>
            <a:ext cx="5102352" cy="3822192"/>
          </a:xfrm>
          <a:prstGeom prst="rect">
            <a:avLst/>
          </a:prstGeom>
          <a:noFill/>
        </p:spPr>
        <p:txBody>
          <a:bodyPr wrap="square" anchor="t" lIns="36576" rIns="36576" tIns="18288" bIns="18288">
            <a:spAutoFit/>
          </a:bodyPr>
          <a:lstStyle/>
          <a:p>
            <a:pPr algn="l"/>
            <a:r>
              <a:rPr sz="1150" b="1" i="0">
                <a:solidFill>
                  <a:srgbClr val="1E9E4F"/>
                </a:solidFill>
                <a:latin typeface="Arial"/>
              </a:rPr>
              <a:t>•  </a:t>
            </a:r>
            <a:r>
              <a:rPr sz="1150" b="0" i="0">
                <a:solidFill>
                  <a:srgbClr val="222A33"/>
                </a:solidFill>
                <a:latin typeface="Arial"/>
              </a:rPr>
              <a:t>Tích hợp cảm biến khí thật (MQ135 / SCD40)</a:t>
            </a:r>
          </a:p>
          <a:p>
            <a:pPr algn="l"/>
            <a:r>
              <a:rPr sz="1150" b="1" i="0">
                <a:solidFill>
                  <a:srgbClr val="1E9E4F"/>
                </a:solidFill>
                <a:latin typeface="Arial"/>
              </a:rPr>
              <a:t>•  </a:t>
            </a:r>
            <a:r>
              <a:rPr sz="1150" b="0" i="0">
                <a:solidFill>
                  <a:srgbClr val="222A33"/>
                </a:solidFill>
                <a:latin typeface="Arial"/>
              </a:rPr>
              <a:t>Xây dựng Mobile App (Flutter / React Native) dùng lại REST API</a:t>
            </a:r>
          </a:p>
          <a:p>
            <a:pPr algn="l"/>
            <a:r>
              <a:rPr sz="1150" b="1" i="0">
                <a:solidFill>
                  <a:srgbClr val="1E9E4F"/>
                </a:solidFill>
                <a:latin typeface="Arial"/>
              </a:rPr>
              <a:t>•  </a:t>
            </a:r>
            <a:r>
              <a:rPr sz="1150" b="0" i="0">
                <a:solidFill>
                  <a:srgbClr val="222A33"/>
                </a:solidFill>
                <a:latin typeface="Arial"/>
              </a:rPr>
              <a:t>WebSocket/SSE đẩy realtime; hỗ trợ nhiều phòng + sơ đồ mặt bằng</a:t>
            </a:r>
          </a:p>
          <a:p>
            <a:pPr algn="l"/>
            <a:r>
              <a:rPr sz="1150" b="1" i="0">
                <a:solidFill>
                  <a:srgbClr val="1E9E4F"/>
                </a:solidFill>
                <a:latin typeface="Arial"/>
              </a:rPr>
              <a:t>•  </a:t>
            </a:r>
            <a:r>
              <a:rPr sz="1150" b="0" i="0">
                <a:solidFill>
                  <a:srgbClr val="222A33"/>
                </a:solidFill>
                <a:latin typeface="Arial"/>
              </a:rPr>
              <a:t>Xác thực email; cảnh báo qua email/SMS khi nguy hiểm</a:t>
            </a:r>
          </a:p>
          <a:p>
            <a:pPr algn="l"/>
            <a:r>
              <a:rPr sz="1150" b="1" i="0">
                <a:solidFill>
                  <a:srgbClr val="1E9E4F"/>
                </a:solidFill>
                <a:latin typeface="Arial"/>
              </a:rPr>
              <a:t>•  </a:t>
            </a:r>
            <a:r>
              <a:rPr sz="1150" b="0" i="0">
                <a:solidFill>
                  <a:srgbClr val="222A33"/>
                </a:solidFill>
                <a:latin typeface="Arial"/>
              </a:rPr>
              <a:t>Tách credential riêng mỗi thiết bị (mTLS), rotate secrets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